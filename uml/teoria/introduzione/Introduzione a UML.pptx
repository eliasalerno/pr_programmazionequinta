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Montaser Arabic" panose="020B0604020202020204" charset="-78"/>
      <p:regular r:id="rId11"/>
    </p:embeddedFont>
    <p:embeddedFont>
      <p:font typeface="Montaser Arabic Bold" panose="020B0604020202020204" charset="-78"/>
      <p:regular r:id="rId12"/>
    </p:embeddedFont>
    <p:embeddedFont>
      <p:font typeface="Montaser Arabic Semi-Bold" panose="020B0604020202020204" charset="-78"/>
      <p:regular r:id="rId13"/>
    </p:embeddedFont>
    <p:embeddedFont>
      <p:font typeface="Montserrat Bold" panose="020B0604020202020204" charset="0"/>
      <p:regular r:id="rId14"/>
    </p:embeddedFont>
    <p:embeddedFont>
      <p:font typeface="Montserrat Semi-Bold" panose="020B0604020202020204" charset="0"/>
      <p:regular r:id="rId15"/>
    </p:embeddedFont>
    <p:embeddedFont>
      <p:font typeface="Open Sauce" panose="020B0604020202020204" charset="0"/>
      <p:regular r:id="rId16"/>
    </p:embeddedFont>
    <p:embeddedFont>
      <p:font typeface="Open Sauce Bold" panose="020B0604020202020204" charset="0"/>
      <p:regular r:id="rId17"/>
    </p:embeddedFont>
    <p:embeddedFont>
      <p:font typeface="Prompt" panose="00000500000000000000" pitchFamily="2" charset="-34"/>
      <p:regular r:id="rId18"/>
    </p:embeddedFont>
    <p:embeddedFont>
      <p:font typeface="Prompt Bold" panose="00000800000000000000" charset="-34"/>
      <p:regular r:id="rId19"/>
    </p:embeddedFont>
    <p:embeddedFont>
      <p:font typeface="Prompt Semi-Bold" panose="020B0604020202020204" charset="-34"/>
      <p:regular r:id="rId20"/>
    </p:embeddedFont>
    <p:embeddedFont>
      <p:font typeface="Roboto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53.png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2" Type="http://schemas.openxmlformats.org/officeDocument/2006/relationships/image" Target="../media/image52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987552" y="1154068"/>
            <a:ext cx="8138160" cy="1459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1"/>
              </a:lnSpc>
            </a:pPr>
            <a:r>
              <a:rPr lang="en-US" sz="8536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Introduzione 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7552" y="2031159"/>
            <a:ext cx="4681728" cy="280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16"/>
              </a:lnSpc>
            </a:pPr>
            <a:r>
              <a:rPr lang="en-US" sz="16368" b="1">
                <a:solidFill>
                  <a:srgbClr val="78B2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UML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128" y="4616768"/>
            <a:ext cx="8065008" cy="72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4"/>
              </a:lnSpc>
            </a:pPr>
            <a:r>
              <a:rPr lang="en-US" sz="4275" b="1">
                <a:solidFill>
                  <a:srgbClr val="78B2E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(Unified Modeling Language)</a:t>
            </a:r>
          </a:p>
        </p:txBody>
      </p:sp>
      <p:sp>
        <p:nvSpPr>
          <p:cNvPr id="6" name="Freeform 6"/>
          <p:cNvSpPr/>
          <p:nvPr/>
        </p:nvSpPr>
        <p:spPr>
          <a:xfrm>
            <a:off x="866775" y="5572125"/>
            <a:ext cx="2400300" cy="219075"/>
          </a:xfrm>
          <a:custGeom>
            <a:avLst/>
            <a:gdLst/>
            <a:ahLst/>
            <a:cxnLst/>
            <a:rect l="l" t="t" r="r" b="b"/>
            <a:pathLst>
              <a:path w="2400300" h="219075">
                <a:moveTo>
                  <a:pt x="0" y="0"/>
                </a:moveTo>
                <a:lnTo>
                  <a:pt x="2400300" y="0"/>
                </a:lnTo>
                <a:lnTo>
                  <a:pt x="240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24128" y="6206585"/>
            <a:ext cx="8412480" cy="439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Linguaggio di modellazione grafica standardizzato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128" y="6953822"/>
            <a:ext cx="6364224" cy="1002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5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UML non è un linguaggio di programmazione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1763375" cy="10287000"/>
          </a:xfrm>
          <a:custGeom>
            <a:avLst/>
            <a:gdLst/>
            <a:ahLst/>
            <a:cxnLst/>
            <a:rect l="l" t="t" r="r" b="b"/>
            <a:pathLst>
              <a:path w="11763375" h="10287000">
                <a:moveTo>
                  <a:pt x="0" y="0"/>
                </a:moveTo>
                <a:lnTo>
                  <a:pt x="11763375" y="0"/>
                </a:lnTo>
                <a:lnTo>
                  <a:pt x="11763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914400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987552" y="1270490"/>
            <a:ext cx="6053328" cy="252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8"/>
              </a:lnSpc>
            </a:pPr>
            <a:r>
              <a:rPr lang="en-US" sz="10587" b="1" spc="-21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Scopi e Vantaggi</a:t>
            </a:r>
          </a:p>
        </p:txBody>
      </p:sp>
      <p:sp>
        <p:nvSpPr>
          <p:cNvPr id="6" name="Freeform 6"/>
          <p:cNvSpPr/>
          <p:nvPr/>
        </p:nvSpPr>
        <p:spPr>
          <a:xfrm>
            <a:off x="866775" y="5353050"/>
            <a:ext cx="2400300" cy="438150"/>
          </a:xfrm>
          <a:custGeom>
            <a:avLst/>
            <a:gdLst/>
            <a:ahLst/>
            <a:cxnLst/>
            <a:rect l="l" t="t" r="r" b="b"/>
            <a:pathLst>
              <a:path w="2400300" h="438150">
                <a:moveTo>
                  <a:pt x="0" y="0"/>
                </a:moveTo>
                <a:lnTo>
                  <a:pt x="2400300" y="0"/>
                </a:lnTo>
                <a:lnTo>
                  <a:pt x="2400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987552" y="6100572"/>
            <a:ext cx="570585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3" spc="-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Linguaggio comune e indipendente dal linguaggio di programmazione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7552" y="7235190"/>
            <a:ext cx="6803136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779" spc="-55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Migliora la comunicazione tra sviluppatori, analisti e stakeholder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7552" y="8415909"/>
            <a:ext cx="630936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2639" spc="-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Supporta progettazione preventiva</a:t>
            </a:r>
          </a:p>
          <a:p>
            <a:pPr algn="l">
              <a:lnSpc>
                <a:spcPts val="3166"/>
              </a:lnSpc>
            </a:pPr>
            <a:r>
              <a:rPr lang="en-US" sz="2639" spc="-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 documentazione dei sistemi esistenti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7552" y="3935458"/>
            <a:ext cx="4864608" cy="135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85"/>
              </a:lnSpc>
            </a:pPr>
            <a:r>
              <a:rPr lang="en-US" sz="10984" b="1" spc="-219">
                <a:solidFill>
                  <a:srgbClr val="78B0D8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 UML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49808" y="1051421"/>
            <a:ext cx="7333488" cy="2967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5"/>
              </a:lnSpc>
            </a:pPr>
            <a:r>
              <a:rPr lang="en-US" sz="7705" b="1" spc="-7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Classificazione dei </a:t>
            </a:r>
            <a:r>
              <a:rPr lang="en-US" sz="7705" b="1" spc="-77">
                <a:solidFill>
                  <a:srgbClr val="70B5F8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Diagrammi UML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4495800"/>
            <a:ext cx="2190750" cy="438150"/>
          </a:xfrm>
          <a:custGeom>
            <a:avLst/>
            <a:gdLst/>
            <a:ahLst/>
            <a:cxnLst/>
            <a:rect l="l" t="t" r="r" b="b"/>
            <a:pathLst>
              <a:path w="2190750" h="4381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768096" y="5618226"/>
            <a:ext cx="5285232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2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UML definisce </a:t>
            </a:r>
            <a:r>
              <a:rPr lang="en-US" sz="2999" b="1" spc="-29">
                <a:solidFill>
                  <a:srgbClr val="70B5F8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14</a:t>
            </a:r>
            <a:r>
              <a:rPr lang="en-US" sz="2999" spc="-2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diagrammi organizzati in due grandi famiglie complementari.</a:t>
            </a:r>
          </a:p>
        </p:txBody>
      </p:sp>
      <p:sp>
        <p:nvSpPr>
          <p:cNvPr id="6" name="Freeform 6"/>
          <p:cNvSpPr/>
          <p:nvPr/>
        </p:nvSpPr>
        <p:spPr>
          <a:xfrm>
            <a:off x="6305550" y="3209925"/>
            <a:ext cx="3714750" cy="4076700"/>
          </a:xfrm>
          <a:custGeom>
            <a:avLst/>
            <a:gdLst/>
            <a:ahLst/>
            <a:cxnLst/>
            <a:rect l="l" t="t" r="r" b="b"/>
            <a:pathLst>
              <a:path w="3714750" h="4076700">
                <a:moveTo>
                  <a:pt x="0" y="0"/>
                </a:moveTo>
                <a:lnTo>
                  <a:pt x="3714750" y="0"/>
                </a:lnTo>
                <a:lnTo>
                  <a:pt x="37147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9791700" y="1495425"/>
            <a:ext cx="7848600" cy="3648075"/>
          </a:xfrm>
          <a:custGeom>
            <a:avLst/>
            <a:gdLst/>
            <a:ahLst/>
            <a:cxnLst/>
            <a:rect l="l" t="t" r="r" b="b"/>
            <a:pathLst>
              <a:path w="7848600" h="3648075">
                <a:moveTo>
                  <a:pt x="0" y="0"/>
                </a:moveTo>
                <a:lnTo>
                  <a:pt x="7848600" y="0"/>
                </a:lnTo>
                <a:lnTo>
                  <a:pt x="78486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10369296" y="2170735"/>
            <a:ext cx="1078992" cy="102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5"/>
              </a:lnSpc>
            </a:pPr>
            <a:r>
              <a:rPr lang="en-US" sz="7785" b="1" spc="-7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96928" y="2111121"/>
            <a:ext cx="318211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573" b="1" spc="-3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DIAGRAMMI STRUTTURALI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96928" y="3511391"/>
            <a:ext cx="4864608" cy="96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37" spc="-1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Descrivono la struttura statica del sistema. Classi, oggetti, componenti, deployment, package, strutture composite.</a:t>
            </a:r>
          </a:p>
        </p:txBody>
      </p:sp>
      <p:sp>
        <p:nvSpPr>
          <p:cNvPr id="11" name="Freeform 11"/>
          <p:cNvSpPr/>
          <p:nvPr/>
        </p:nvSpPr>
        <p:spPr>
          <a:xfrm>
            <a:off x="9791700" y="5353050"/>
            <a:ext cx="7848600" cy="3867150"/>
          </a:xfrm>
          <a:custGeom>
            <a:avLst/>
            <a:gdLst/>
            <a:ahLst/>
            <a:cxnLst/>
            <a:rect l="l" t="t" r="r" b="b"/>
            <a:pathLst>
              <a:path w="7848600" h="3867150">
                <a:moveTo>
                  <a:pt x="0" y="0"/>
                </a:moveTo>
                <a:lnTo>
                  <a:pt x="7848600" y="0"/>
                </a:lnTo>
                <a:lnTo>
                  <a:pt x="78486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10369296" y="5978247"/>
            <a:ext cx="1078992" cy="871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1"/>
              </a:lnSpc>
            </a:pPr>
            <a:r>
              <a:rPr lang="en-US" sz="6571" b="1" spc="-6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96928" y="5865114"/>
            <a:ext cx="4718304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3522" b="1" spc="-3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DIAGRAMMI COMPORTAMENTALI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96928" y="7307056"/>
            <a:ext cx="5230368" cy="1323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893" spc="-1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Rappresentano il comportamento</a:t>
            </a:r>
          </a:p>
          <a:p>
            <a:pPr algn="l">
              <a:lnSpc>
                <a:spcPts val="2651"/>
              </a:lnSpc>
            </a:pPr>
            <a:r>
              <a:rPr lang="en-US" sz="1893" spc="-1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del sistema nel tempo.</a:t>
            </a:r>
          </a:p>
          <a:p>
            <a:pPr algn="l">
              <a:lnSpc>
                <a:spcPts val="2651"/>
              </a:lnSpc>
            </a:pPr>
            <a:r>
              <a:rPr lang="en-US" sz="1893" spc="-1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Casi d'uso, sequenza, attività, stato, comunicazione, interazione generale, tempi.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932688" y="1165698"/>
            <a:ext cx="6419088" cy="334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4"/>
              </a:lnSpc>
            </a:pPr>
            <a:r>
              <a:rPr lang="en-US" sz="8820" b="1" spc="-264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Diagrammli </a:t>
            </a:r>
            <a:r>
              <a:rPr lang="en-US" sz="8820" b="1" spc="-264">
                <a:solidFill>
                  <a:srgbClr val="A2D0F4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Strutturali</a:t>
            </a:r>
            <a:r>
              <a:rPr lang="en-US" sz="8820" b="1" spc="-264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 Principali</a:t>
            </a:r>
          </a:p>
        </p:txBody>
      </p:sp>
      <p:sp>
        <p:nvSpPr>
          <p:cNvPr id="4" name="Freeform 4"/>
          <p:cNvSpPr/>
          <p:nvPr/>
        </p:nvSpPr>
        <p:spPr>
          <a:xfrm>
            <a:off x="866775" y="4924425"/>
            <a:ext cx="2400300" cy="438150"/>
          </a:xfrm>
          <a:custGeom>
            <a:avLst/>
            <a:gdLst/>
            <a:ahLst/>
            <a:cxnLst/>
            <a:rect l="l" t="t" r="r" b="b"/>
            <a:pathLst>
              <a:path w="2400300" h="438150">
                <a:moveTo>
                  <a:pt x="0" y="0"/>
                </a:moveTo>
                <a:lnTo>
                  <a:pt x="2400300" y="0"/>
                </a:lnTo>
                <a:lnTo>
                  <a:pt x="2400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969264" y="5848159"/>
            <a:ext cx="493776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3435" b="1" spc="-103">
                <a:solidFill>
                  <a:srgbClr val="A2D0F4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Diagramma delle Classi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9264" y="6523101"/>
            <a:ext cx="6181344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634" spc="-7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Descrive</a:t>
            </a:r>
            <a:r>
              <a:rPr lang="en-US" sz="2634" spc="-7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2634" spc="-7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struttura</a:t>
            </a:r>
            <a:r>
              <a:rPr lang="en-US" sz="2634" spc="-7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634" spc="-7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statica</a:t>
            </a:r>
            <a:r>
              <a:rPr lang="en-US" sz="2634" spc="-7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634" spc="-7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r>
              <a:rPr lang="en-US" sz="2634" spc="-7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 le </a:t>
            </a:r>
            <a:r>
              <a:rPr lang="en-US" sz="2634" spc="-7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relazioni</a:t>
            </a:r>
            <a:r>
              <a:rPr lang="en-US" sz="2634" spc="-7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634" spc="-7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</a:t>
            </a:r>
            <a:r>
              <a:rPr lang="en-US" sz="2634" spc="-7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le sue </a:t>
            </a:r>
            <a:r>
              <a:rPr lang="en-US" sz="2634" spc="-7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componenti</a:t>
            </a:r>
            <a:endParaRPr lang="en-US" sz="2634" spc="-79" dirty="0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pic>
        <p:nvPicPr>
          <p:cNvPr id="9" name="Immagine 8" descr="Class Diagram - UML 2 Tutorial | Sparx Systems">
            <a:extLst>
              <a:ext uri="{FF2B5EF4-FFF2-40B4-BE49-F238E27FC236}">
                <a16:creationId xmlns:a16="http://schemas.microsoft.com/office/drawing/2014/main" id="{2B42BE41-E15F-9D2A-9963-A4612AC97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745023"/>
            <a:ext cx="7424950" cy="52351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6524625" y="857250"/>
            <a:ext cx="11763375" cy="9429750"/>
          </a:xfrm>
          <a:custGeom>
            <a:avLst/>
            <a:gdLst/>
            <a:ahLst/>
            <a:cxnLst/>
            <a:rect l="l" t="t" r="r" b="b"/>
            <a:pathLst>
              <a:path w="11763375" h="9429750">
                <a:moveTo>
                  <a:pt x="0" y="0"/>
                </a:moveTo>
                <a:lnTo>
                  <a:pt x="11763375" y="0"/>
                </a:lnTo>
                <a:lnTo>
                  <a:pt x="11763375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877824" y="800100"/>
            <a:ext cx="8412480" cy="2131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0"/>
              </a:lnSpc>
            </a:pPr>
            <a:r>
              <a:rPr lang="en-US" sz="7866" b="1" spc="-393" dirty="0" err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Diagrammi</a:t>
            </a:r>
            <a:r>
              <a:rPr lang="en-US" sz="7866" b="1" spc="-393" dirty="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7866" b="1" spc="-393" dirty="0" err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Comportamentali</a:t>
            </a:r>
            <a:endParaRPr lang="en-US" sz="7866" b="1" spc="-393" dirty="0">
              <a:solidFill>
                <a:srgbClr val="FFFFFF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866775" y="4152900"/>
            <a:ext cx="2181225" cy="219075"/>
          </a:xfrm>
          <a:custGeom>
            <a:avLst/>
            <a:gdLst/>
            <a:ahLst/>
            <a:cxnLst/>
            <a:rect l="l" t="t" r="r" b="b"/>
            <a:pathLst>
              <a:path w="2181225" h="219075">
                <a:moveTo>
                  <a:pt x="0" y="0"/>
                </a:moveTo>
                <a:lnTo>
                  <a:pt x="2181225" y="0"/>
                </a:lnTo>
                <a:lnTo>
                  <a:pt x="218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877824" y="4991100"/>
            <a:ext cx="6821424" cy="85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spc="-4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mostra</a:t>
            </a:r>
            <a:r>
              <a:rPr lang="en-US" sz="2498" spc="-4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le </a:t>
            </a:r>
            <a:r>
              <a:rPr lang="en-US" sz="2498" spc="-4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interazioni</a:t>
            </a:r>
            <a:r>
              <a:rPr lang="en-US" sz="2498" spc="-4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498" spc="-4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temporali</a:t>
            </a:r>
            <a:r>
              <a:rPr lang="en-US" sz="2498" spc="-4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498" spc="-4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</a:t>
            </a:r>
            <a:r>
              <a:rPr lang="en-US" sz="2498" spc="-4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498" spc="-4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oggetti</a:t>
            </a:r>
            <a:r>
              <a:rPr lang="en-US" sz="2498" spc="-4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498" spc="-4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tramite</a:t>
            </a:r>
            <a:r>
              <a:rPr lang="en-US" sz="2498" spc="-4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498" spc="-4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messaggi</a:t>
            </a:r>
            <a:r>
              <a:rPr lang="en-US" sz="2498" spc="-4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498" spc="-4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ordinati</a:t>
            </a:r>
            <a:r>
              <a:rPr lang="en-US" sz="2498" spc="-4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498" spc="-4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cronologicamente</a:t>
            </a:r>
            <a:endParaRPr lang="en-US" sz="2498" spc="-49" dirty="0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77824" y="6819900"/>
            <a:ext cx="5961888" cy="1326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533" spc="-50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rappresenta</a:t>
            </a:r>
            <a:r>
              <a:rPr lang="en-US" sz="2533" spc="-50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il </a:t>
            </a:r>
            <a:r>
              <a:rPr lang="en-US" sz="2533" spc="-50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flusso</a:t>
            </a:r>
            <a:r>
              <a:rPr lang="en-US" sz="2533" spc="-50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di </a:t>
            </a:r>
            <a:r>
              <a:rPr lang="en-US" sz="2533" spc="-50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controllo</a:t>
            </a:r>
            <a:r>
              <a:rPr lang="en-US" sz="2533" spc="-50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o </a:t>
            </a:r>
            <a:r>
              <a:rPr lang="en-US" sz="2533" spc="-50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dati</a:t>
            </a:r>
            <a:r>
              <a:rPr lang="en-US" sz="2533" spc="-50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simile a un flowchart per </a:t>
            </a:r>
            <a:r>
              <a:rPr lang="en-US" sz="2533" spc="-50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processi</a:t>
            </a:r>
            <a:endParaRPr lang="en-US" sz="2533" spc="-50" dirty="0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algn="l">
              <a:lnSpc>
                <a:spcPts val="3547"/>
              </a:lnSpc>
            </a:pPr>
            <a:r>
              <a:rPr lang="en-US" sz="2533" spc="-50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 workflow </a:t>
            </a:r>
            <a:r>
              <a:rPr lang="en-US" sz="2533" spc="-50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aziendali</a:t>
            </a:r>
            <a:endParaRPr lang="en-US" sz="2533" spc="-50" dirty="0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8" name="TextBox 8"/>
          <p:cNvSpPr txBox="1"/>
          <p:nvPr/>
        </p:nvSpPr>
        <p:spPr>
          <a:xfrm rot="-118800">
            <a:off x="10734558" y="2254690"/>
            <a:ext cx="2432304" cy="23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46" b="1" spc="-82">
                <a:solidFill>
                  <a:srgbClr val="003C6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Diagramma di Sequenza</a:t>
            </a:r>
          </a:p>
        </p:txBody>
      </p:sp>
      <p:sp>
        <p:nvSpPr>
          <p:cNvPr id="9" name="Freeform 9"/>
          <p:cNvSpPr/>
          <p:nvPr/>
        </p:nvSpPr>
        <p:spPr>
          <a:xfrm>
            <a:off x="10229850" y="2781300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TextBox 10"/>
          <p:cNvSpPr txBox="1"/>
          <p:nvPr/>
        </p:nvSpPr>
        <p:spPr>
          <a:xfrm rot="-118800">
            <a:off x="10369100" y="3013493"/>
            <a:ext cx="694944" cy="16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lang="en-US" sz="1162" spc="-58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Oggetto A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315700" y="2781300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 rot="-118800">
            <a:off x="11594396" y="3013493"/>
            <a:ext cx="694944" cy="16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lang="en-US" sz="1162" spc="-58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Oggetto B</a:t>
            </a:r>
          </a:p>
        </p:txBody>
      </p:sp>
      <p:sp>
        <p:nvSpPr>
          <p:cNvPr id="13" name="Freeform 13"/>
          <p:cNvSpPr/>
          <p:nvPr/>
        </p:nvSpPr>
        <p:spPr>
          <a:xfrm>
            <a:off x="12620625" y="2781300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10229850" y="3209925"/>
            <a:ext cx="3057525" cy="4076700"/>
          </a:xfrm>
          <a:custGeom>
            <a:avLst/>
            <a:gdLst/>
            <a:ahLst/>
            <a:cxnLst/>
            <a:rect l="l" t="t" r="r" b="b"/>
            <a:pathLst>
              <a:path w="3057525" h="4076700">
                <a:moveTo>
                  <a:pt x="0" y="0"/>
                </a:moveTo>
                <a:lnTo>
                  <a:pt x="3057525" y="0"/>
                </a:lnTo>
                <a:lnTo>
                  <a:pt x="30575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TextBox 15"/>
          <p:cNvSpPr txBox="1"/>
          <p:nvPr/>
        </p:nvSpPr>
        <p:spPr>
          <a:xfrm rot="-118800">
            <a:off x="10881509" y="3867602"/>
            <a:ext cx="768096" cy="154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1092" spc="-54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messaggio 1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668625" y="2571750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>
            <a:off x="15020925" y="3209925"/>
            <a:ext cx="1533525" cy="647700"/>
          </a:xfrm>
          <a:custGeom>
            <a:avLst/>
            <a:gdLst/>
            <a:ahLst/>
            <a:cxnLst/>
            <a:rect l="l" t="t" r="r" b="b"/>
            <a:pathLst>
              <a:path w="1533525" h="647700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Freeform 18"/>
          <p:cNvSpPr/>
          <p:nvPr/>
        </p:nvSpPr>
        <p:spPr>
          <a:xfrm>
            <a:off x="15020925" y="3857625"/>
            <a:ext cx="1533525" cy="647700"/>
          </a:xfrm>
          <a:custGeom>
            <a:avLst/>
            <a:gdLst/>
            <a:ahLst/>
            <a:cxnLst/>
            <a:rect l="l" t="t" r="r" b="b"/>
            <a:pathLst>
              <a:path w="1533525" h="647700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9" name="TextBox 19"/>
          <p:cNvSpPr txBox="1"/>
          <p:nvPr/>
        </p:nvSpPr>
        <p:spPr>
          <a:xfrm rot="-118800">
            <a:off x="15472010" y="4132899"/>
            <a:ext cx="768096" cy="188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"/>
              </a:lnSpc>
            </a:pPr>
            <a:r>
              <a:rPr lang="en-US" sz="1399" spc="-69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Attività 2</a:t>
            </a:r>
          </a:p>
        </p:txBody>
      </p:sp>
      <p:sp>
        <p:nvSpPr>
          <p:cNvPr id="20" name="Freeform 20"/>
          <p:cNvSpPr/>
          <p:nvPr/>
        </p:nvSpPr>
        <p:spPr>
          <a:xfrm>
            <a:off x="15449550" y="4714875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15020925" y="5781675"/>
            <a:ext cx="1533525" cy="647700"/>
          </a:xfrm>
          <a:custGeom>
            <a:avLst/>
            <a:gdLst/>
            <a:ahLst/>
            <a:cxnLst/>
            <a:rect l="l" t="t" r="r" b="b"/>
            <a:pathLst>
              <a:path w="1533525" h="647700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TextBox 22"/>
          <p:cNvSpPr txBox="1"/>
          <p:nvPr/>
        </p:nvSpPr>
        <p:spPr>
          <a:xfrm rot="-118800">
            <a:off x="15325706" y="6046281"/>
            <a:ext cx="768096" cy="188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"/>
              </a:lnSpc>
            </a:pPr>
            <a:r>
              <a:rPr lang="en-US" sz="1399" spc="-69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Attività 3</a:t>
            </a:r>
          </a:p>
        </p:txBody>
      </p:sp>
      <p:sp>
        <p:nvSpPr>
          <p:cNvPr id="23" name="Freeform 23"/>
          <p:cNvSpPr/>
          <p:nvPr/>
        </p:nvSpPr>
        <p:spPr>
          <a:xfrm>
            <a:off x="15449550" y="663892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4" name="Freeform 24"/>
          <p:cNvSpPr/>
          <p:nvPr/>
        </p:nvSpPr>
        <p:spPr>
          <a:xfrm>
            <a:off x="13716000" y="1714500"/>
            <a:ext cx="438150" cy="6219825"/>
          </a:xfrm>
          <a:custGeom>
            <a:avLst/>
            <a:gdLst/>
            <a:ahLst/>
            <a:cxnLst/>
            <a:rect l="l" t="t" r="r" b="b"/>
            <a:pathLst>
              <a:path w="438150" h="6219825">
                <a:moveTo>
                  <a:pt x="0" y="0"/>
                </a:moveTo>
                <a:lnTo>
                  <a:pt x="438150" y="0"/>
                </a:lnTo>
                <a:lnTo>
                  <a:pt x="438150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5" name="TextBox 25"/>
          <p:cNvSpPr txBox="1"/>
          <p:nvPr/>
        </p:nvSpPr>
        <p:spPr>
          <a:xfrm>
            <a:off x="877824" y="2933700"/>
            <a:ext cx="4901184" cy="120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8770" b="1" spc="-438" dirty="0" err="1">
                <a:solidFill>
                  <a:srgbClr val="70B0E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Principali</a:t>
            </a:r>
            <a:endParaRPr lang="en-US" sz="8770" b="1" spc="-438" dirty="0">
              <a:solidFill>
                <a:srgbClr val="70B0E1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77824" y="4610100"/>
            <a:ext cx="400507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700" b="1" spc="-135" dirty="0" err="1">
                <a:solidFill>
                  <a:srgbClr val="70B0E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Diagramma</a:t>
            </a:r>
            <a:r>
              <a:rPr lang="en-US" sz="2700" b="1" spc="-135" dirty="0">
                <a:solidFill>
                  <a:srgbClr val="70B0E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di </a:t>
            </a:r>
            <a:r>
              <a:rPr lang="en-US" sz="2700" b="1" spc="-135" dirty="0" err="1">
                <a:solidFill>
                  <a:srgbClr val="70B0E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Sequenza</a:t>
            </a:r>
            <a:endParaRPr lang="en-US" sz="2700" b="1" spc="-135" dirty="0">
              <a:solidFill>
                <a:srgbClr val="70B0E1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77824" y="6362700"/>
            <a:ext cx="4023360" cy="365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5"/>
              </a:lnSpc>
            </a:pPr>
            <a:r>
              <a:rPr lang="en-US" sz="2662" b="1" spc="-133" dirty="0" err="1">
                <a:solidFill>
                  <a:srgbClr val="70B0E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Diagramma</a:t>
            </a:r>
            <a:r>
              <a:rPr lang="en-US" sz="2662" b="1" spc="-133" dirty="0">
                <a:solidFill>
                  <a:srgbClr val="70B0E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delle </a:t>
            </a:r>
            <a:r>
              <a:rPr lang="en-US" sz="2662" b="1" spc="-133" dirty="0" err="1">
                <a:solidFill>
                  <a:srgbClr val="70B0E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Attività</a:t>
            </a:r>
            <a:endParaRPr lang="en-US" sz="2662" b="1" spc="-133" dirty="0">
              <a:solidFill>
                <a:srgbClr val="70B0E1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28" name="TextBox 28"/>
          <p:cNvSpPr txBox="1"/>
          <p:nvPr/>
        </p:nvSpPr>
        <p:spPr>
          <a:xfrm rot="-118800">
            <a:off x="14630275" y="2103872"/>
            <a:ext cx="2688336" cy="233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9"/>
              </a:lnSpc>
            </a:pPr>
            <a:r>
              <a:rPr lang="en-US" sz="1780" b="1" spc="-89">
                <a:solidFill>
                  <a:srgbClr val="003C6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Diagramma delle Attività</a:t>
            </a:r>
          </a:p>
        </p:txBody>
      </p:sp>
      <p:sp>
        <p:nvSpPr>
          <p:cNvPr id="29" name="TextBox 29"/>
          <p:cNvSpPr txBox="1"/>
          <p:nvPr/>
        </p:nvSpPr>
        <p:spPr>
          <a:xfrm rot="-118800">
            <a:off x="12837980" y="3013493"/>
            <a:ext cx="694944" cy="16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lang="en-US" sz="1162" spc="-58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Oggetto C</a:t>
            </a:r>
          </a:p>
        </p:txBody>
      </p:sp>
      <p:sp>
        <p:nvSpPr>
          <p:cNvPr id="30" name="TextBox 30"/>
          <p:cNvSpPr txBox="1"/>
          <p:nvPr/>
        </p:nvSpPr>
        <p:spPr>
          <a:xfrm rot="-118800">
            <a:off x="11448262" y="5096830"/>
            <a:ext cx="768096" cy="14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2"/>
              </a:lnSpc>
            </a:pPr>
            <a:r>
              <a:rPr lang="en-US" sz="1059" spc="-52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messaggio 2</a:t>
            </a:r>
          </a:p>
        </p:txBody>
      </p:sp>
      <p:sp>
        <p:nvSpPr>
          <p:cNvPr id="31" name="TextBox 31"/>
          <p:cNvSpPr txBox="1"/>
          <p:nvPr/>
        </p:nvSpPr>
        <p:spPr>
          <a:xfrm rot="-118800">
            <a:off x="11301958" y="6392992"/>
            <a:ext cx="768096" cy="14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2"/>
              </a:lnSpc>
            </a:pPr>
            <a:r>
              <a:rPr lang="en-US" sz="1059" spc="-52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messaggio 3</a:t>
            </a:r>
          </a:p>
        </p:txBody>
      </p:sp>
      <p:sp>
        <p:nvSpPr>
          <p:cNvPr id="32" name="TextBox 32"/>
          <p:cNvSpPr txBox="1"/>
          <p:nvPr/>
        </p:nvSpPr>
        <p:spPr>
          <a:xfrm rot="-118800">
            <a:off x="10954661" y="4464248"/>
            <a:ext cx="585216" cy="154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1092" spc="-54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risposta 1</a:t>
            </a:r>
          </a:p>
        </p:txBody>
      </p:sp>
      <p:sp>
        <p:nvSpPr>
          <p:cNvPr id="33" name="TextBox 33"/>
          <p:cNvSpPr txBox="1"/>
          <p:nvPr/>
        </p:nvSpPr>
        <p:spPr>
          <a:xfrm rot="-118800">
            <a:off x="10954486" y="5683189"/>
            <a:ext cx="585216" cy="14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2"/>
              </a:lnSpc>
            </a:pPr>
            <a:r>
              <a:rPr lang="en-US" sz="1059" spc="-52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risposta 2</a:t>
            </a:r>
          </a:p>
        </p:txBody>
      </p:sp>
      <p:sp>
        <p:nvSpPr>
          <p:cNvPr id="34" name="TextBox 34"/>
          <p:cNvSpPr txBox="1"/>
          <p:nvPr/>
        </p:nvSpPr>
        <p:spPr>
          <a:xfrm rot="-118800">
            <a:off x="15472010" y="3423096"/>
            <a:ext cx="768096" cy="188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"/>
              </a:lnSpc>
            </a:pPr>
            <a:r>
              <a:rPr lang="en-US" sz="1399" spc="-69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Attività 1</a:t>
            </a:r>
          </a:p>
        </p:txBody>
      </p:sp>
      <p:sp>
        <p:nvSpPr>
          <p:cNvPr id="35" name="TextBox 35"/>
          <p:cNvSpPr txBox="1"/>
          <p:nvPr/>
        </p:nvSpPr>
        <p:spPr>
          <a:xfrm rot="-118800">
            <a:off x="14502533" y="4958024"/>
            <a:ext cx="201168" cy="154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1092" spc="-54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no</a:t>
            </a:r>
          </a:p>
        </p:txBody>
      </p:sp>
      <p:sp>
        <p:nvSpPr>
          <p:cNvPr id="36" name="TextBox 36"/>
          <p:cNvSpPr txBox="1"/>
          <p:nvPr/>
        </p:nvSpPr>
        <p:spPr>
          <a:xfrm rot="-118800">
            <a:off x="14941445" y="4958024"/>
            <a:ext cx="201168" cy="154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1092" spc="-54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no</a:t>
            </a:r>
          </a:p>
        </p:txBody>
      </p:sp>
      <p:sp>
        <p:nvSpPr>
          <p:cNvPr id="37" name="TextBox 37"/>
          <p:cNvSpPr txBox="1"/>
          <p:nvPr/>
        </p:nvSpPr>
        <p:spPr>
          <a:xfrm rot="-118800">
            <a:off x="15837770" y="5593653"/>
            <a:ext cx="201168" cy="188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"/>
              </a:lnSpc>
            </a:pPr>
            <a:r>
              <a:rPr lang="en-US" sz="1399" spc="-69">
                <a:solidFill>
                  <a:srgbClr val="003C6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</a:t>
            </a:r>
          </a:p>
        </p:txBody>
      </p:sp>
      <p:sp>
        <p:nvSpPr>
          <p:cNvPr id="45" name="TextBox 7">
            <a:extLst>
              <a:ext uri="{FF2B5EF4-FFF2-40B4-BE49-F238E27FC236}">
                <a16:creationId xmlns:a16="http://schemas.microsoft.com/office/drawing/2014/main" id="{CA32F9A3-6862-6099-6094-C1939F753C60}"/>
              </a:ext>
            </a:extLst>
          </p:cNvPr>
          <p:cNvSpPr txBox="1"/>
          <p:nvPr/>
        </p:nvSpPr>
        <p:spPr>
          <a:xfrm>
            <a:off x="838200" y="8149209"/>
            <a:ext cx="5559552" cy="48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9"/>
              </a:lnSpc>
            </a:pPr>
            <a:r>
              <a:rPr lang="en-US" sz="2662" b="1" spc="-133" dirty="0" err="1">
                <a:solidFill>
                  <a:srgbClr val="70B0E1"/>
                </a:solidFill>
                <a:latin typeface="Montaser Arabic Bold"/>
                <a:cs typeface="Montaser Arabic Bold"/>
                <a:sym typeface="Montaser Arabic Semi-Bold"/>
              </a:rPr>
              <a:t>Diagramma</a:t>
            </a:r>
            <a:r>
              <a:rPr lang="en-US" sz="2662" b="1" spc="-133" dirty="0">
                <a:solidFill>
                  <a:srgbClr val="70B0E1"/>
                </a:solidFill>
                <a:latin typeface="Montaser Arabic Bold"/>
                <a:cs typeface="Montaser Arabic Bold"/>
                <a:sym typeface="Montaser Arabic Semi-Bold"/>
              </a:rPr>
              <a:t> </a:t>
            </a:r>
            <a:r>
              <a:rPr lang="en-US" sz="2662" b="1" spc="-133" dirty="0" err="1">
                <a:solidFill>
                  <a:srgbClr val="70B0E1"/>
                </a:solidFill>
                <a:latin typeface="Montaser Arabic Bold"/>
                <a:cs typeface="Montaser Arabic Bold"/>
                <a:sym typeface="Montaser Arabic Semi-Bold"/>
              </a:rPr>
              <a:t>dei</a:t>
            </a:r>
            <a:r>
              <a:rPr lang="en-US" sz="2662" b="1" spc="-133" dirty="0">
                <a:solidFill>
                  <a:srgbClr val="70B0E1"/>
                </a:solidFill>
                <a:latin typeface="Montaser Arabic Bold"/>
                <a:cs typeface="Montaser Arabic Bold"/>
                <a:sym typeface="Montaser Arabic Semi-Bold"/>
              </a:rPr>
              <a:t> Casi </a:t>
            </a:r>
            <a:r>
              <a:rPr lang="en-US" sz="2662" b="1" spc="-133" dirty="0" err="1">
                <a:solidFill>
                  <a:srgbClr val="70B0E1"/>
                </a:solidFill>
                <a:latin typeface="Montaser Arabic Bold"/>
                <a:cs typeface="Montaser Arabic Bold"/>
                <a:sym typeface="Montaser Arabic Semi-Bold"/>
              </a:rPr>
              <a:t>d’Uso</a:t>
            </a:r>
            <a:endParaRPr lang="en-US" sz="2662" b="1" spc="-133" dirty="0">
              <a:solidFill>
                <a:srgbClr val="70B0E1"/>
              </a:solidFill>
              <a:latin typeface="Montaser Arabic Bold"/>
              <a:cs typeface="Montaser Arabic Bold"/>
              <a:sym typeface="Montaser Arabic Semi-Bold"/>
            </a:endParaRPr>
          </a:p>
        </p:txBody>
      </p:sp>
      <p:sp>
        <p:nvSpPr>
          <p:cNvPr id="47" name="TextBox 8">
            <a:extLst>
              <a:ext uri="{FF2B5EF4-FFF2-40B4-BE49-F238E27FC236}">
                <a16:creationId xmlns:a16="http://schemas.microsoft.com/office/drawing/2014/main" id="{D4EF936D-9F9A-C065-7015-DACCE95CEB32}"/>
              </a:ext>
            </a:extLst>
          </p:cNvPr>
          <p:cNvSpPr txBox="1"/>
          <p:nvPr/>
        </p:nvSpPr>
        <p:spPr>
          <a:xfrm>
            <a:off x="838200" y="8839200"/>
            <a:ext cx="5157216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634" spc="-7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Rappresenta</a:t>
            </a:r>
            <a:r>
              <a:rPr lang="en-US" sz="2634" spc="-7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634" spc="-7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attori</a:t>
            </a:r>
            <a:r>
              <a:rPr lang="en-US" sz="2634" spc="-7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 </a:t>
            </a:r>
            <a:r>
              <a:rPr lang="en-US" sz="2634" spc="-7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funzionalità</a:t>
            </a:r>
            <a:r>
              <a:rPr lang="en-US" sz="2634" spc="-79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dal punto di vista </a:t>
            </a:r>
            <a:r>
              <a:rPr lang="en-US" sz="2634" spc="-7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dell’utente</a:t>
            </a:r>
            <a:endParaRPr lang="en-US" sz="2634" spc="-79" dirty="0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731520" y="1033253"/>
            <a:ext cx="10533888" cy="2104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20"/>
              </a:lnSpc>
            </a:pPr>
            <a:r>
              <a:rPr lang="en-US" sz="7473" b="1" spc="-373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Esempio — </a:t>
            </a:r>
            <a:r>
              <a:rPr lang="en-US" sz="7473" b="1" spc="-373">
                <a:solidFill>
                  <a:srgbClr val="3972B7"/>
                </a:solidFill>
                <a:latin typeface="Prompt Bold"/>
                <a:ea typeface="Prompt Bold"/>
                <a:cs typeface="Prompt Bold"/>
                <a:sym typeface="Prompt Bold"/>
              </a:rPr>
              <a:t>Diagramma delle Classi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3429000"/>
            <a:ext cx="2190750" cy="428625"/>
          </a:xfrm>
          <a:custGeom>
            <a:avLst/>
            <a:gdLst/>
            <a:ahLst/>
            <a:cxnLst/>
            <a:rect l="l" t="t" r="r" b="b"/>
            <a:pathLst>
              <a:path w="2190750" h="428625">
                <a:moveTo>
                  <a:pt x="0" y="0"/>
                </a:moveTo>
                <a:lnTo>
                  <a:pt x="2190750" y="0"/>
                </a:lnTo>
                <a:lnTo>
                  <a:pt x="2190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647700" y="4714875"/>
            <a:ext cx="1095375" cy="857250"/>
          </a:xfrm>
          <a:custGeom>
            <a:avLst/>
            <a:gdLst/>
            <a:ahLst/>
            <a:cxnLst/>
            <a:rect l="l" t="t" r="r" b="b"/>
            <a:pathLst>
              <a:path w="1095375" h="857250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792224" y="4898398"/>
            <a:ext cx="2249424" cy="1122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5"/>
              </a:lnSpc>
            </a:pPr>
            <a:r>
              <a:rPr lang="en-US" sz="2043" spc="-4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Descrive struttura, attributi, metodi</a:t>
            </a:r>
          </a:p>
          <a:p>
            <a:pPr algn="l">
              <a:lnSpc>
                <a:spcPts val="3065"/>
              </a:lnSpc>
            </a:pPr>
            <a:r>
              <a:rPr lang="en-US" sz="2043" spc="-4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e relazioni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000" y="4286250"/>
            <a:ext cx="3267075" cy="3429000"/>
          </a:xfrm>
          <a:custGeom>
            <a:avLst/>
            <a:gdLst/>
            <a:ahLst/>
            <a:cxnLst/>
            <a:rect l="l" t="t" r="r" b="b"/>
            <a:pathLst>
              <a:path w="3267075" h="3429000">
                <a:moveTo>
                  <a:pt x="0" y="0"/>
                </a:moveTo>
                <a:lnTo>
                  <a:pt x="3267075" y="0"/>
                </a:lnTo>
                <a:lnTo>
                  <a:pt x="32670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5779008" y="4712020"/>
            <a:ext cx="987552" cy="34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2519" b="1" spc="-125">
                <a:solidFill>
                  <a:srgbClr val="001524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Utente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92624" y="5578751"/>
            <a:ext cx="1609344" cy="336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907" spc="-38">
                <a:solidFill>
                  <a:srgbClr val="001524"/>
                </a:solidFill>
                <a:latin typeface="Prompt"/>
                <a:ea typeface="Prompt"/>
                <a:cs typeface="Prompt"/>
                <a:sym typeface="Prompt"/>
              </a:rPr>
              <a:t>- nome: String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92624" y="6083216"/>
            <a:ext cx="1572768" cy="33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1928" spc="-38">
                <a:solidFill>
                  <a:srgbClr val="001524"/>
                </a:solidFill>
                <a:latin typeface="Prompt"/>
                <a:ea typeface="Prompt"/>
                <a:cs typeface="Prompt"/>
                <a:sym typeface="Prompt"/>
              </a:rPr>
              <a:t>- email: String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92624" y="7045479"/>
            <a:ext cx="2633472" cy="27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1591" spc="-31">
                <a:solidFill>
                  <a:srgbClr val="001524"/>
                </a:solidFill>
                <a:latin typeface="Prompt"/>
                <a:ea typeface="Prompt"/>
                <a:cs typeface="Prompt"/>
                <a:sym typeface="Prompt"/>
              </a:rPr>
              <a:t>+ richiediPrestito {}; Prestito</a:t>
            </a:r>
          </a:p>
        </p:txBody>
      </p:sp>
      <p:sp>
        <p:nvSpPr>
          <p:cNvPr id="12" name="Freeform 12"/>
          <p:cNvSpPr/>
          <p:nvPr/>
        </p:nvSpPr>
        <p:spPr>
          <a:xfrm>
            <a:off x="7829550" y="5572125"/>
            <a:ext cx="1971675" cy="428625"/>
          </a:xfrm>
          <a:custGeom>
            <a:avLst/>
            <a:gdLst/>
            <a:ahLst/>
            <a:cxnLst/>
            <a:rect l="l" t="t" r="r" b="b"/>
            <a:pathLst>
              <a:path w="1971675" h="42862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TextBox 13"/>
          <p:cNvSpPr txBox="1"/>
          <p:nvPr/>
        </p:nvSpPr>
        <p:spPr>
          <a:xfrm>
            <a:off x="8119872" y="6083216"/>
            <a:ext cx="950976" cy="33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3"/>
              </a:lnSpc>
            </a:pPr>
            <a:r>
              <a:rPr lang="en-US" sz="1928" spc="-38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effettua</a:t>
            </a:r>
          </a:p>
        </p:txBody>
      </p:sp>
      <p:sp>
        <p:nvSpPr>
          <p:cNvPr id="14" name="Freeform 14"/>
          <p:cNvSpPr/>
          <p:nvPr/>
        </p:nvSpPr>
        <p:spPr>
          <a:xfrm>
            <a:off x="9144000" y="6000750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9572625" y="4286250"/>
            <a:ext cx="3276600" cy="3429000"/>
          </a:xfrm>
          <a:custGeom>
            <a:avLst/>
            <a:gdLst/>
            <a:ahLst/>
            <a:cxnLst/>
            <a:rect l="l" t="t" r="r" b="b"/>
            <a:pathLst>
              <a:path w="3276600" h="3429000">
                <a:moveTo>
                  <a:pt x="0" y="0"/>
                </a:moveTo>
                <a:lnTo>
                  <a:pt x="3276600" y="0"/>
                </a:lnTo>
                <a:lnTo>
                  <a:pt x="32766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10643616" y="4712020"/>
            <a:ext cx="1133856" cy="34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2519" b="1" spc="-125">
                <a:solidFill>
                  <a:srgbClr val="001524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Prestito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66960" y="5579153"/>
            <a:ext cx="1938528" cy="33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1928" spc="-38">
                <a:solidFill>
                  <a:srgbClr val="001524"/>
                </a:solidFill>
                <a:latin typeface="Prompt"/>
                <a:ea typeface="Prompt"/>
                <a:cs typeface="Prompt"/>
                <a:sym typeface="Prompt"/>
              </a:rPr>
              <a:t>- datalnizio: Date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66960" y="6082814"/>
            <a:ext cx="1810512" cy="336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907" spc="-38">
                <a:solidFill>
                  <a:srgbClr val="001524"/>
                </a:solidFill>
                <a:latin typeface="Prompt"/>
                <a:ea typeface="Prompt"/>
                <a:cs typeface="Prompt"/>
                <a:sym typeface="Prompt"/>
              </a:rPr>
              <a:t>- dataFine: Date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2620625" y="5572125"/>
            <a:ext cx="1971675" cy="428625"/>
          </a:xfrm>
          <a:custGeom>
            <a:avLst/>
            <a:gdLst/>
            <a:ahLst/>
            <a:cxnLst/>
            <a:rect l="l" t="t" r="r" b="b"/>
            <a:pathLst>
              <a:path w="1971675" h="42862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TextBox 20"/>
          <p:cNvSpPr txBox="1"/>
          <p:nvPr/>
        </p:nvSpPr>
        <p:spPr>
          <a:xfrm>
            <a:off x="12966192" y="6083216"/>
            <a:ext cx="1024128" cy="33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3"/>
              </a:lnSpc>
            </a:pPr>
            <a:r>
              <a:rPr lang="en-US" sz="1928" spc="-38">
                <a:solidFill>
                  <a:srgbClr val="001524"/>
                </a:solidFill>
                <a:latin typeface="Prompt"/>
                <a:ea typeface="Prompt"/>
                <a:cs typeface="Prompt"/>
                <a:sym typeface="Prompt"/>
              </a:rPr>
              <a:t>riguarda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925550" y="6000750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>
            <a:off x="14363700" y="4286250"/>
            <a:ext cx="3495675" cy="3429000"/>
          </a:xfrm>
          <a:custGeom>
            <a:avLst/>
            <a:gdLst/>
            <a:ahLst/>
            <a:cxnLst/>
            <a:rect l="l" t="t" r="r" b="b"/>
            <a:pathLst>
              <a:path w="3495675" h="3429000">
                <a:moveTo>
                  <a:pt x="0" y="0"/>
                </a:moveTo>
                <a:lnTo>
                  <a:pt x="3495675" y="0"/>
                </a:lnTo>
                <a:lnTo>
                  <a:pt x="34956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15727680" y="4712020"/>
            <a:ext cx="731520" cy="34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2519" b="1" spc="-125">
                <a:solidFill>
                  <a:srgbClr val="001524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Libro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923008" y="5590627"/>
            <a:ext cx="1444752" cy="313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781" spc="-35">
                <a:solidFill>
                  <a:srgbClr val="001524"/>
                </a:solidFill>
                <a:latin typeface="Prompt"/>
                <a:ea typeface="Prompt"/>
                <a:cs typeface="Prompt"/>
                <a:sym typeface="Prompt"/>
              </a:rPr>
              <a:t>- titolo: String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923008" y="6083216"/>
            <a:ext cx="1426464" cy="336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1928" spc="-38">
                <a:solidFill>
                  <a:srgbClr val="001524"/>
                </a:solidFill>
                <a:latin typeface="Prompt"/>
                <a:ea typeface="Prompt"/>
                <a:cs typeface="Prompt"/>
                <a:sym typeface="Prompt"/>
              </a:rPr>
              <a:t>-ISBN: String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831568" y="7006635"/>
            <a:ext cx="1609344" cy="33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3"/>
              </a:lnSpc>
            </a:pPr>
            <a:r>
              <a:rPr lang="en-US" sz="1802" spc="-36">
                <a:solidFill>
                  <a:srgbClr val="001524"/>
                </a:solidFill>
                <a:latin typeface="Prompt"/>
                <a:ea typeface="Prompt"/>
                <a:cs typeface="Prompt"/>
                <a:sym typeface="Prompt"/>
              </a:rPr>
              <a:t>+ presta(); void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91856" y="5308666"/>
            <a:ext cx="128016" cy="34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2519" b="1" spc="-125">
                <a:solidFill>
                  <a:srgbClr val="FFFFFF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08592" y="5308666"/>
            <a:ext cx="182880" cy="34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2519" b="1" spc="-125">
                <a:solidFill>
                  <a:srgbClr val="FFFFFF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*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11328" y="5308666"/>
            <a:ext cx="182880" cy="34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2519" b="1" spc="-125">
                <a:solidFill>
                  <a:srgbClr val="FFFFFF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*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209776" y="5308666"/>
            <a:ext cx="128016" cy="34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2519" b="1" spc="-125">
                <a:solidFill>
                  <a:srgbClr val="FFFFFF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658368" y="1697927"/>
            <a:ext cx="5065776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4"/>
              </a:lnSpc>
            </a:pPr>
            <a:r>
              <a:rPr lang="en-US" sz="5978" b="1" spc="-2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Esempio — Diagramma </a:t>
            </a:r>
            <a:r>
              <a:rPr lang="en-US" sz="5978" b="1" spc="-298">
                <a:solidFill>
                  <a:srgbClr val="70C9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dei Casi d’Uso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4924425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694944" y="5903178"/>
            <a:ext cx="3858768" cy="134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2"/>
              </a:lnSpc>
            </a:pPr>
            <a:r>
              <a:rPr lang="en-US" sz="2428" b="1" spc="-4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Rappresenta funzionalità e interazioni dal punto di vista degli utenti</a:t>
            </a:r>
          </a:p>
        </p:txBody>
      </p:sp>
      <p:sp>
        <p:nvSpPr>
          <p:cNvPr id="6" name="Freeform 6"/>
          <p:cNvSpPr/>
          <p:nvPr/>
        </p:nvSpPr>
        <p:spPr>
          <a:xfrm>
            <a:off x="8705850" y="1066800"/>
            <a:ext cx="6105525" cy="8362950"/>
          </a:xfrm>
          <a:custGeom>
            <a:avLst/>
            <a:gdLst/>
            <a:ahLst/>
            <a:cxnLst/>
            <a:rect l="l" t="t" r="r" b="b"/>
            <a:pathLst>
              <a:path w="6105525" h="8362950">
                <a:moveTo>
                  <a:pt x="0" y="0"/>
                </a:moveTo>
                <a:lnTo>
                  <a:pt x="6105525" y="0"/>
                </a:lnTo>
                <a:lnTo>
                  <a:pt x="6105525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332720" y="1598015"/>
            <a:ext cx="2852928" cy="36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2"/>
              </a:lnSpc>
            </a:pPr>
            <a:r>
              <a:rPr lang="en-US" sz="2095" b="1" spc="-41">
                <a:solidFill>
                  <a:srgbClr val="003C6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 di Biblioteca</a:t>
            </a:r>
          </a:p>
        </p:txBody>
      </p:sp>
      <p:sp>
        <p:nvSpPr>
          <p:cNvPr id="8" name="Freeform 8"/>
          <p:cNvSpPr/>
          <p:nvPr/>
        </p:nvSpPr>
        <p:spPr>
          <a:xfrm>
            <a:off x="10010775" y="2352675"/>
            <a:ext cx="3495675" cy="1504950"/>
          </a:xfrm>
          <a:custGeom>
            <a:avLst/>
            <a:gdLst/>
            <a:ahLst/>
            <a:cxnLst/>
            <a:rect l="l" t="t" r="r" b="b"/>
            <a:pathLst>
              <a:path w="3495675" h="1504950">
                <a:moveTo>
                  <a:pt x="0" y="0"/>
                </a:moveTo>
                <a:lnTo>
                  <a:pt x="3495675" y="0"/>
                </a:lnTo>
                <a:lnTo>
                  <a:pt x="3495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0010775" y="4067175"/>
            <a:ext cx="3495675" cy="1504950"/>
          </a:xfrm>
          <a:custGeom>
            <a:avLst/>
            <a:gdLst/>
            <a:ahLst/>
            <a:cxnLst/>
            <a:rect l="l" t="t" r="r" b="b"/>
            <a:pathLst>
              <a:path w="3495675" h="1504950">
                <a:moveTo>
                  <a:pt x="0" y="0"/>
                </a:moveTo>
                <a:lnTo>
                  <a:pt x="3495675" y="0"/>
                </a:lnTo>
                <a:lnTo>
                  <a:pt x="3495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TextBox 10"/>
          <p:cNvSpPr txBox="1"/>
          <p:nvPr/>
        </p:nvSpPr>
        <p:spPr>
          <a:xfrm>
            <a:off x="10881360" y="4585025"/>
            <a:ext cx="1719072" cy="360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5"/>
              </a:lnSpc>
            </a:pPr>
            <a:r>
              <a:rPr lang="en-US" sz="2043" b="1" spc="-40">
                <a:solidFill>
                  <a:srgbClr val="003C6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Prenota libro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010775" y="5572125"/>
            <a:ext cx="3495675" cy="1714500"/>
          </a:xfrm>
          <a:custGeom>
            <a:avLst/>
            <a:gdLst/>
            <a:ahLst/>
            <a:cxnLst/>
            <a:rect l="l" t="t" r="r" b="b"/>
            <a:pathLst>
              <a:path w="3495675" h="1714500">
                <a:moveTo>
                  <a:pt x="0" y="0"/>
                </a:moveTo>
                <a:lnTo>
                  <a:pt x="3495675" y="0"/>
                </a:lnTo>
                <a:lnTo>
                  <a:pt x="3495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10625328" y="6268313"/>
            <a:ext cx="2231136" cy="36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2"/>
              </a:lnSpc>
            </a:pPr>
            <a:r>
              <a:rPr lang="en-US" sz="2095" b="1" spc="-41">
                <a:solidFill>
                  <a:srgbClr val="003C6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Effettua prestito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010775" y="7286625"/>
            <a:ext cx="3495675" cy="1504950"/>
          </a:xfrm>
          <a:custGeom>
            <a:avLst/>
            <a:gdLst/>
            <a:ahLst/>
            <a:cxnLst/>
            <a:rect l="l" t="t" r="r" b="b"/>
            <a:pathLst>
              <a:path w="3495675" h="1504950">
                <a:moveTo>
                  <a:pt x="0" y="0"/>
                </a:moveTo>
                <a:lnTo>
                  <a:pt x="3495675" y="0"/>
                </a:lnTo>
                <a:lnTo>
                  <a:pt x="3495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10369296" y="7893168"/>
            <a:ext cx="2779776" cy="368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069" b="1" spc="-41">
                <a:solidFill>
                  <a:srgbClr val="003C6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Registra restituzione</a:t>
            </a:r>
          </a:p>
        </p:txBody>
      </p:sp>
      <p:sp>
        <p:nvSpPr>
          <p:cNvPr id="15" name="Freeform 15"/>
          <p:cNvSpPr/>
          <p:nvPr/>
        </p:nvSpPr>
        <p:spPr>
          <a:xfrm>
            <a:off x="6524625" y="3638550"/>
            <a:ext cx="1095375" cy="1933575"/>
          </a:xfrm>
          <a:custGeom>
            <a:avLst/>
            <a:gdLst/>
            <a:ahLst/>
            <a:cxnLst/>
            <a:rect l="l" t="t" r="r" b="b"/>
            <a:pathLst>
              <a:path w="1095375" h="1933575">
                <a:moveTo>
                  <a:pt x="0" y="0"/>
                </a:moveTo>
                <a:lnTo>
                  <a:pt x="1095375" y="0"/>
                </a:lnTo>
                <a:lnTo>
                  <a:pt x="1095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6638544" y="5643042"/>
            <a:ext cx="950976" cy="383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</a:pPr>
            <a:r>
              <a:rPr lang="en-US" sz="2172" b="1" spc="-43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Utente</a:t>
            </a:r>
          </a:p>
        </p:txBody>
      </p:sp>
      <p:sp>
        <p:nvSpPr>
          <p:cNvPr id="17" name="Freeform 17"/>
          <p:cNvSpPr/>
          <p:nvPr/>
        </p:nvSpPr>
        <p:spPr>
          <a:xfrm>
            <a:off x="7181850" y="3000375"/>
            <a:ext cx="3057525" cy="1504950"/>
          </a:xfrm>
          <a:custGeom>
            <a:avLst/>
            <a:gdLst/>
            <a:ahLst/>
            <a:cxnLst/>
            <a:rect l="l" t="t" r="r" b="b"/>
            <a:pathLst>
              <a:path w="3057525" h="1504950">
                <a:moveTo>
                  <a:pt x="0" y="0"/>
                </a:moveTo>
                <a:lnTo>
                  <a:pt x="3057525" y="0"/>
                </a:lnTo>
                <a:lnTo>
                  <a:pt x="3057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Freeform 18"/>
          <p:cNvSpPr/>
          <p:nvPr/>
        </p:nvSpPr>
        <p:spPr>
          <a:xfrm>
            <a:off x="7181850" y="4286250"/>
            <a:ext cx="3057525" cy="647700"/>
          </a:xfrm>
          <a:custGeom>
            <a:avLst/>
            <a:gdLst/>
            <a:ahLst/>
            <a:cxnLst/>
            <a:rect l="l" t="t" r="r" b="b"/>
            <a:pathLst>
              <a:path w="3057525" h="647700">
                <a:moveTo>
                  <a:pt x="0" y="0"/>
                </a:moveTo>
                <a:lnTo>
                  <a:pt x="3057525" y="0"/>
                </a:lnTo>
                <a:lnTo>
                  <a:pt x="3057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9" name="Freeform 19"/>
          <p:cNvSpPr/>
          <p:nvPr/>
        </p:nvSpPr>
        <p:spPr>
          <a:xfrm>
            <a:off x="13277850" y="5353050"/>
            <a:ext cx="3057525" cy="1295400"/>
          </a:xfrm>
          <a:custGeom>
            <a:avLst/>
            <a:gdLst/>
            <a:ahLst/>
            <a:cxnLst/>
            <a:rect l="l" t="t" r="r" b="b"/>
            <a:pathLst>
              <a:path w="3057525" h="1295400">
                <a:moveTo>
                  <a:pt x="0" y="0"/>
                </a:moveTo>
                <a:lnTo>
                  <a:pt x="3057525" y="0"/>
                </a:lnTo>
                <a:lnTo>
                  <a:pt x="3057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Freeform 20"/>
          <p:cNvSpPr/>
          <p:nvPr/>
        </p:nvSpPr>
        <p:spPr>
          <a:xfrm>
            <a:off x="13277850" y="5572125"/>
            <a:ext cx="3057525" cy="2571750"/>
          </a:xfrm>
          <a:custGeom>
            <a:avLst/>
            <a:gdLst/>
            <a:ahLst/>
            <a:cxnLst/>
            <a:rect l="l" t="t" r="r" b="b"/>
            <a:pathLst>
              <a:path w="3057525" h="2571750">
                <a:moveTo>
                  <a:pt x="0" y="0"/>
                </a:moveTo>
                <a:lnTo>
                  <a:pt x="3057525" y="0"/>
                </a:lnTo>
                <a:lnTo>
                  <a:pt x="30575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16106775" y="4495800"/>
            <a:ext cx="876300" cy="1933575"/>
          </a:xfrm>
          <a:custGeom>
            <a:avLst/>
            <a:gdLst/>
            <a:ahLst/>
            <a:cxnLst/>
            <a:rect l="l" t="t" r="r" b="b"/>
            <a:pathLst>
              <a:path w="876300" h="1933575">
                <a:moveTo>
                  <a:pt x="0" y="0"/>
                </a:moveTo>
                <a:lnTo>
                  <a:pt x="876300" y="0"/>
                </a:lnTo>
                <a:lnTo>
                  <a:pt x="876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TextBox 22"/>
          <p:cNvSpPr txBox="1"/>
          <p:nvPr/>
        </p:nvSpPr>
        <p:spPr>
          <a:xfrm>
            <a:off x="15782544" y="6579650"/>
            <a:ext cx="1755648" cy="38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</a:pPr>
            <a:r>
              <a:rPr lang="en-US" sz="2198" b="1" spc="-43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Bibliotecario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27664" y="2903973"/>
            <a:ext cx="1444752" cy="368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069" b="1" spc="-41">
                <a:solidFill>
                  <a:srgbClr val="003C6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Cerca libro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658368" y="618031"/>
            <a:ext cx="10405872" cy="2037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1"/>
              </a:lnSpc>
            </a:pPr>
            <a:r>
              <a:rPr lang="en-US" sz="7473" b="1" spc="-37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Esempio </a:t>
            </a:r>
            <a:r>
              <a:rPr lang="en-US" sz="7473" b="1" spc="-373">
                <a:solidFill>
                  <a:srgbClr val="78B2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— Diagramma di Sequenza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2781300"/>
            <a:ext cx="1971675" cy="438150"/>
          </a:xfrm>
          <a:custGeom>
            <a:avLst/>
            <a:gdLst/>
            <a:ahLst/>
            <a:cxnLst/>
            <a:rect l="l" t="t" r="r" b="b"/>
            <a:pathLst>
              <a:path w="1971675" h="438150">
                <a:moveTo>
                  <a:pt x="0" y="0"/>
                </a:moveTo>
                <a:lnTo>
                  <a:pt x="1971675" y="0"/>
                </a:lnTo>
                <a:lnTo>
                  <a:pt x="1971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647700" y="38576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828800" y="3895539"/>
            <a:ext cx="2962656" cy="792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190" spc="-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Descrive lo scambio</a:t>
            </a:r>
          </a:p>
          <a:p>
            <a:pPr algn="l">
              <a:lnSpc>
                <a:spcPts val="3285"/>
              </a:lnSpc>
            </a:pPr>
            <a:r>
              <a:rPr lang="en-US" sz="2190" spc="-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 messaggi nel tempo</a:t>
            </a:r>
          </a:p>
        </p:txBody>
      </p:sp>
      <p:sp>
        <p:nvSpPr>
          <p:cNvPr id="7" name="Freeform 7"/>
          <p:cNvSpPr/>
          <p:nvPr/>
        </p:nvSpPr>
        <p:spPr>
          <a:xfrm>
            <a:off x="5219700" y="3000375"/>
            <a:ext cx="1971675" cy="1076325"/>
          </a:xfrm>
          <a:custGeom>
            <a:avLst/>
            <a:gdLst/>
            <a:ahLst/>
            <a:cxnLst/>
            <a:rect l="l" t="t" r="r" b="b"/>
            <a:pathLst>
              <a:path w="1971675" h="1076325">
                <a:moveTo>
                  <a:pt x="0" y="0"/>
                </a:moveTo>
                <a:lnTo>
                  <a:pt x="1971675" y="0"/>
                </a:lnTo>
                <a:lnTo>
                  <a:pt x="1971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5438775" y="3000375"/>
            <a:ext cx="657225" cy="857250"/>
          </a:xfrm>
          <a:custGeom>
            <a:avLst/>
            <a:gdLst/>
            <a:ahLst/>
            <a:cxnLst/>
            <a:rect l="l" t="t" r="r" b="b"/>
            <a:pathLst>
              <a:path w="657225" h="857250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8267700" y="3000375"/>
            <a:ext cx="1971675" cy="1076325"/>
          </a:xfrm>
          <a:custGeom>
            <a:avLst/>
            <a:gdLst/>
            <a:ahLst/>
            <a:cxnLst/>
            <a:rect l="l" t="t" r="r" b="b"/>
            <a:pathLst>
              <a:path w="1971675" h="1076325">
                <a:moveTo>
                  <a:pt x="0" y="0"/>
                </a:moveTo>
                <a:lnTo>
                  <a:pt x="1971675" y="0"/>
                </a:lnTo>
                <a:lnTo>
                  <a:pt x="1971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8486775" y="3000375"/>
            <a:ext cx="657225" cy="857250"/>
          </a:xfrm>
          <a:custGeom>
            <a:avLst/>
            <a:gdLst/>
            <a:ahLst/>
            <a:cxnLst/>
            <a:rect l="l" t="t" r="r" b="b"/>
            <a:pathLst>
              <a:path w="657225" h="857250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>
            <a:off x="11315700" y="3000375"/>
            <a:ext cx="2838450" cy="1076325"/>
          </a:xfrm>
          <a:custGeom>
            <a:avLst/>
            <a:gdLst/>
            <a:ahLst/>
            <a:cxnLst/>
            <a:rect l="l" t="t" r="r" b="b"/>
            <a:pathLst>
              <a:path w="2838450" h="1076325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11534775" y="3000375"/>
            <a:ext cx="657225" cy="857250"/>
          </a:xfrm>
          <a:custGeom>
            <a:avLst/>
            <a:gdLst/>
            <a:ahLst/>
            <a:cxnLst/>
            <a:rect l="l" t="t" r="r" b="b"/>
            <a:pathLst>
              <a:path w="657225" h="857250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TextBox 13"/>
          <p:cNvSpPr txBox="1"/>
          <p:nvPr/>
        </p:nvSpPr>
        <p:spPr>
          <a:xfrm>
            <a:off x="11375136" y="3135934"/>
            <a:ext cx="2542032" cy="67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92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Servizio Autenticazione</a:t>
            </a:r>
          </a:p>
        </p:txBody>
      </p:sp>
      <p:sp>
        <p:nvSpPr>
          <p:cNvPr id="14" name="Freeform 14"/>
          <p:cNvSpPr/>
          <p:nvPr/>
        </p:nvSpPr>
        <p:spPr>
          <a:xfrm>
            <a:off x="14801850" y="3000375"/>
            <a:ext cx="1962150" cy="1076325"/>
          </a:xfrm>
          <a:custGeom>
            <a:avLst/>
            <a:gdLst/>
            <a:ahLst/>
            <a:cxnLst/>
            <a:rect l="l" t="t" r="r" b="b"/>
            <a:pathLst>
              <a:path w="1962150" h="1076325">
                <a:moveTo>
                  <a:pt x="0" y="0"/>
                </a:moveTo>
                <a:lnTo>
                  <a:pt x="1962150" y="0"/>
                </a:lnTo>
                <a:lnTo>
                  <a:pt x="1962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4801850" y="32099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5876925" y="3857625"/>
            <a:ext cx="438150" cy="5572125"/>
          </a:xfrm>
          <a:custGeom>
            <a:avLst/>
            <a:gdLst/>
            <a:ahLst/>
            <a:cxnLst/>
            <a:rect l="l" t="t" r="r" b="b"/>
            <a:pathLst>
              <a:path w="438150" h="5572125">
                <a:moveTo>
                  <a:pt x="0" y="0"/>
                </a:moveTo>
                <a:lnTo>
                  <a:pt x="438150" y="0"/>
                </a:lnTo>
                <a:lnTo>
                  <a:pt x="43815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>
            <a:off x="5876925" y="4714875"/>
            <a:ext cx="438150" cy="857250"/>
          </a:xfrm>
          <a:custGeom>
            <a:avLst/>
            <a:gdLst/>
            <a:ahLst/>
            <a:cxnLst/>
            <a:rect l="l" t="t" r="r" b="b"/>
            <a:pathLst>
              <a:path w="438150" h="8572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TextBox 18"/>
          <p:cNvSpPr txBox="1"/>
          <p:nvPr/>
        </p:nvSpPr>
        <p:spPr>
          <a:xfrm>
            <a:off x="6583680" y="4592657"/>
            <a:ext cx="2139696" cy="282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584" b="1" spc="-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 inserisci credenziali</a:t>
            </a:r>
          </a:p>
        </p:txBody>
      </p:sp>
      <p:sp>
        <p:nvSpPr>
          <p:cNvPr id="19" name="Freeform 19"/>
          <p:cNvSpPr/>
          <p:nvPr/>
        </p:nvSpPr>
        <p:spPr>
          <a:xfrm>
            <a:off x="6096000" y="4924425"/>
            <a:ext cx="2838450" cy="219075"/>
          </a:xfrm>
          <a:custGeom>
            <a:avLst/>
            <a:gdLst/>
            <a:ahLst/>
            <a:cxnLst/>
            <a:rect l="l" t="t" r="r" b="b"/>
            <a:pathLst>
              <a:path w="2838450" h="219075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Freeform 20"/>
          <p:cNvSpPr/>
          <p:nvPr/>
        </p:nvSpPr>
        <p:spPr>
          <a:xfrm>
            <a:off x="8924925" y="4714875"/>
            <a:ext cx="438150" cy="1285875"/>
          </a:xfrm>
          <a:custGeom>
            <a:avLst/>
            <a:gdLst/>
            <a:ahLst/>
            <a:cxnLst/>
            <a:rect l="l" t="t" r="r" b="b"/>
            <a:pathLst>
              <a:path w="438150" h="1285875">
                <a:moveTo>
                  <a:pt x="0" y="0"/>
                </a:moveTo>
                <a:lnTo>
                  <a:pt x="438150" y="0"/>
                </a:lnTo>
                <a:lnTo>
                  <a:pt x="438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TextBox 21"/>
          <p:cNvSpPr txBox="1"/>
          <p:nvPr/>
        </p:nvSpPr>
        <p:spPr>
          <a:xfrm>
            <a:off x="9948672" y="5271599"/>
            <a:ext cx="1792224" cy="282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584" b="1" spc="-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invia credenziali</a:t>
            </a:r>
          </a:p>
        </p:txBody>
      </p:sp>
      <p:sp>
        <p:nvSpPr>
          <p:cNvPr id="22" name="Freeform 22"/>
          <p:cNvSpPr/>
          <p:nvPr/>
        </p:nvSpPr>
        <p:spPr>
          <a:xfrm>
            <a:off x="9144000" y="5572125"/>
            <a:ext cx="3486150" cy="428625"/>
          </a:xfrm>
          <a:custGeom>
            <a:avLst/>
            <a:gdLst/>
            <a:ahLst/>
            <a:cxnLst/>
            <a:rect l="l" t="t" r="r" b="b"/>
            <a:pathLst>
              <a:path w="3486150" h="428625">
                <a:moveTo>
                  <a:pt x="0" y="0"/>
                </a:moveTo>
                <a:lnTo>
                  <a:pt x="3486150" y="0"/>
                </a:lnTo>
                <a:lnTo>
                  <a:pt x="3486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Freeform 23"/>
          <p:cNvSpPr/>
          <p:nvPr/>
        </p:nvSpPr>
        <p:spPr>
          <a:xfrm>
            <a:off x="12401550" y="3857625"/>
            <a:ext cx="447675" cy="5572125"/>
          </a:xfrm>
          <a:custGeom>
            <a:avLst/>
            <a:gdLst/>
            <a:ahLst/>
            <a:cxnLst/>
            <a:rect l="l" t="t" r="r" b="b"/>
            <a:pathLst>
              <a:path w="447675" h="5572125">
                <a:moveTo>
                  <a:pt x="0" y="0"/>
                </a:moveTo>
                <a:lnTo>
                  <a:pt x="447675" y="0"/>
                </a:lnTo>
                <a:lnTo>
                  <a:pt x="44767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4" name="Freeform 24"/>
          <p:cNvSpPr/>
          <p:nvPr/>
        </p:nvSpPr>
        <p:spPr>
          <a:xfrm>
            <a:off x="12401550" y="5353050"/>
            <a:ext cx="447675" cy="1504950"/>
          </a:xfrm>
          <a:custGeom>
            <a:avLst/>
            <a:gdLst/>
            <a:ahLst/>
            <a:cxnLst/>
            <a:rect l="l" t="t" r="r" b="b"/>
            <a:pathLst>
              <a:path w="447675" h="1504950">
                <a:moveTo>
                  <a:pt x="0" y="0"/>
                </a:moveTo>
                <a:lnTo>
                  <a:pt x="447675" y="0"/>
                </a:lnTo>
                <a:lnTo>
                  <a:pt x="44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5" name="Freeform 25"/>
          <p:cNvSpPr/>
          <p:nvPr/>
        </p:nvSpPr>
        <p:spPr>
          <a:xfrm>
            <a:off x="12620625" y="6210300"/>
            <a:ext cx="3057525" cy="438150"/>
          </a:xfrm>
          <a:custGeom>
            <a:avLst/>
            <a:gdLst/>
            <a:ahLst/>
            <a:cxnLst/>
            <a:rect l="l" t="t" r="r" b="b"/>
            <a:pathLst>
              <a:path w="3057525" h="438150">
                <a:moveTo>
                  <a:pt x="0" y="0"/>
                </a:moveTo>
                <a:lnTo>
                  <a:pt x="3057525" y="0"/>
                </a:lnTo>
                <a:lnTo>
                  <a:pt x="3057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6" name="Freeform 26"/>
          <p:cNvSpPr/>
          <p:nvPr/>
        </p:nvSpPr>
        <p:spPr>
          <a:xfrm>
            <a:off x="15449550" y="6210300"/>
            <a:ext cx="447675" cy="1504950"/>
          </a:xfrm>
          <a:custGeom>
            <a:avLst/>
            <a:gdLst/>
            <a:ahLst/>
            <a:cxnLst/>
            <a:rect l="l" t="t" r="r" b="b"/>
            <a:pathLst>
              <a:path w="447675" h="1504950">
                <a:moveTo>
                  <a:pt x="0" y="0"/>
                </a:moveTo>
                <a:lnTo>
                  <a:pt x="447675" y="0"/>
                </a:lnTo>
                <a:lnTo>
                  <a:pt x="44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7" name="TextBox 27"/>
          <p:cNvSpPr txBox="1"/>
          <p:nvPr/>
        </p:nvSpPr>
        <p:spPr>
          <a:xfrm>
            <a:off x="13313664" y="7061537"/>
            <a:ext cx="1719072" cy="282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584" b="1" spc="-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 restituisci esito</a:t>
            </a:r>
          </a:p>
        </p:txBody>
      </p:sp>
      <p:sp>
        <p:nvSpPr>
          <p:cNvPr id="28" name="Freeform 28"/>
          <p:cNvSpPr/>
          <p:nvPr/>
        </p:nvSpPr>
        <p:spPr>
          <a:xfrm>
            <a:off x="12620625" y="7286625"/>
            <a:ext cx="3057525" cy="428625"/>
          </a:xfrm>
          <a:custGeom>
            <a:avLst/>
            <a:gdLst/>
            <a:ahLst/>
            <a:cxnLst/>
            <a:rect l="l" t="t" r="r" b="b"/>
            <a:pathLst>
              <a:path w="3057525" h="428625">
                <a:moveTo>
                  <a:pt x="0" y="0"/>
                </a:moveTo>
                <a:lnTo>
                  <a:pt x="3057525" y="0"/>
                </a:lnTo>
                <a:lnTo>
                  <a:pt x="3057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9" name="Freeform 29"/>
          <p:cNvSpPr/>
          <p:nvPr/>
        </p:nvSpPr>
        <p:spPr>
          <a:xfrm>
            <a:off x="12401550" y="7286625"/>
            <a:ext cx="447675" cy="1285875"/>
          </a:xfrm>
          <a:custGeom>
            <a:avLst/>
            <a:gdLst/>
            <a:ahLst/>
            <a:cxnLst/>
            <a:rect l="l" t="t" r="r" b="b"/>
            <a:pathLst>
              <a:path w="447675" h="1285875">
                <a:moveTo>
                  <a:pt x="0" y="0"/>
                </a:moveTo>
                <a:lnTo>
                  <a:pt x="447675" y="0"/>
                </a:lnTo>
                <a:lnTo>
                  <a:pt x="447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Freeform 30"/>
          <p:cNvSpPr/>
          <p:nvPr/>
        </p:nvSpPr>
        <p:spPr>
          <a:xfrm>
            <a:off x="9144000" y="8143875"/>
            <a:ext cx="3486150" cy="428625"/>
          </a:xfrm>
          <a:custGeom>
            <a:avLst/>
            <a:gdLst/>
            <a:ahLst/>
            <a:cxnLst/>
            <a:rect l="l" t="t" r="r" b="b"/>
            <a:pathLst>
              <a:path w="3486150" h="428625">
                <a:moveTo>
                  <a:pt x="0" y="0"/>
                </a:moveTo>
                <a:lnTo>
                  <a:pt x="3486150" y="0"/>
                </a:lnTo>
                <a:lnTo>
                  <a:pt x="3486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1" name="Freeform 31"/>
          <p:cNvSpPr/>
          <p:nvPr/>
        </p:nvSpPr>
        <p:spPr>
          <a:xfrm>
            <a:off x="8924925" y="7924800"/>
            <a:ext cx="438150" cy="1076325"/>
          </a:xfrm>
          <a:custGeom>
            <a:avLst/>
            <a:gdLst/>
            <a:ahLst/>
            <a:cxnLst/>
            <a:rect l="l" t="t" r="r" b="b"/>
            <a:pathLst>
              <a:path w="438150" h="1076325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2" name="Freeform 32"/>
          <p:cNvSpPr/>
          <p:nvPr/>
        </p:nvSpPr>
        <p:spPr>
          <a:xfrm>
            <a:off x="8924925" y="3857625"/>
            <a:ext cx="219075" cy="5572125"/>
          </a:xfrm>
          <a:custGeom>
            <a:avLst/>
            <a:gdLst/>
            <a:ahLst/>
            <a:cxnLst/>
            <a:rect l="l" t="t" r="r" b="b"/>
            <a:pathLst>
              <a:path w="219075" h="5572125">
                <a:moveTo>
                  <a:pt x="0" y="0"/>
                </a:moveTo>
                <a:lnTo>
                  <a:pt x="219075" y="0"/>
                </a:lnTo>
                <a:lnTo>
                  <a:pt x="21907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3" name="Freeform 33"/>
          <p:cNvSpPr/>
          <p:nvPr/>
        </p:nvSpPr>
        <p:spPr>
          <a:xfrm>
            <a:off x="15449550" y="3857625"/>
            <a:ext cx="447675" cy="5572125"/>
          </a:xfrm>
          <a:custGeom>
            <a:avLst/>
            <a:gdLst/>
            <a:ahLst/>
            <a:cxnLst/>
            <a:rect l="l" t="t" r="r" b="b"/>
            <a:pathLst>
              <a:path w="447675" h="5572125">
                <a:moveTo>
                  <a:pt x="0" y="0"/>
                </a:moveTo>
                <a:lnTo>
                  <a:pt x="447675" y="0"/>
                </a:lnTo>
                <a:lnTo>
                  <a:pt x="44767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4" name="TextBox 34"/>
          <p:cNvSpPr txBox="1"/>
          <p:nvPr/>
        </p:nvSpPr>
        <p:spPr>
          <a:xfrm>
            <a:off x="5449824" y="3307384"/>
            <a:ext cx="1627632" cy="332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92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Utente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2480" y="3307384"/>
            <a:ext cx="1627632" cy="332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92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849856" y="3307384"/>
            <a:ext cx="1810512" cy="332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92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Database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386816" y="6025301"/>
            <a:ext cx="1572768" cy="26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518" b="1" spc="-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verifica utente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09760" y="7948970"/>
            <a:ext cx="2779776" cy="26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1518" b="1" spc="-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5. mostra accesso consentito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640080" y="1132378"/>
            <a:ext cx="5577840" cy="3530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518" b="1" spc="-4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Esempio </a:t>
            </a:r>
            <a:r>
              <a:rPr lang="en-US" sz="8518" b="1" spc="-451">
                <a:solidFill>
                  <a:srgbClr val="7AC1F6"/>
                </a:solidFill>
                <a:latin typeface="Roboto Bold"/>
                <a:ea typeface="Roboto Bold"/>
                <a:cs typeface="Roboto Bold"/>
                <a:sym typeface="Roboto Bold"/>
              </a:rPr>
              <a:t>– Diagramma delle Attività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4924425"/>
            <a:ext cx="2190750" cy="438150"/>
          </a:xfrm>
          <a:custGeom>
            <a:avLst/>
            <a:gdLst/>
            <a:ahLst/>
            <a:cxnLst/>
            <a:rect l="l" t="t" r="r" b="b"/>
            <a:pathLst>
              <a:path w="2190750" h="4381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640080" y="5811488"/>
            <a:ext cx="3968496" cy="9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2887" spc="-15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Rappresenta il flusso di controllo di un processo</a:t>
            </a:r>
          </a:p>
        </p:txBody>
      </p:sp>
      <p:pic>
        <p:nvPicPr>
          <p:cNvPr id="31" name="Immagine 30" descr="What is a UML activity diagram? Definition and components - ProcessOn">
            <a:extLst>
              <a:ext uri="{FF2B5EF4-FFF2-40B4-BE49-F238E27FC236}">
                <a16:creationId xmlns:a16="http://schemas.microsoft.com/office/drawing/2014/main" id="{B85AF95E-948E-11B5-ED02-9B833CD8B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2391" y="1065520"/>
            <a:ext cx="6847990" cy="77178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348</Words>
  <Application>Microsoft Office PowerPoint</Application>
  <PresentationFormat>Personalizzato</PresentationFormat>
  <Paragraphs>92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23" baseType="lpstr">
      <vt:lpstr>Prompt</vt:lpstr>
      <vt:lpstr>Prompt Bold</vt:lpstr>
      <vt:lpstr>Calibri</vt:lpstr>
      <vt:lpstr>Prompt Semi-Bold</vt:lpstr>
      <vt:lpstr>Open Sauce</vt:lpstr>
      <vt:lpstr>Roboto Bold</vt:lpstr>
      <vt:lpstr>Montaser Arabic Semi-Bold</vt:lpstr>
      <vt:lpstr>Arial</vt:lpstr>
      <vt:lpstr>Montaser Arabic</vt:lpstr>
      <vt:lpstr>Open Sauce Bold</vt:lpstr>
      <vt:lpstr>Montserrat Bold</vt:lpstr>
      <vt:lpstr>Montaser Arabic Bold</vt:lpstr>
      <vt:lpstr>Montserrat Semi-Bold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 a UML</dc:title>
  <cp:lastModifiedBy>elia salerno</cp:lastModifiedBy>
  <cp:revision>3</cp:revision>
  <dcterms:created xsi:type="dcterms:W3CDTF">2006-08-16T00:00:00Z</dcterms:created>
  <dcterms:modified xsi:type="dcterms:W3CDTF">2026-09-14T07:25:19Z</dcterms:modified>
  <dc:identifier>DAHU5U7tLl8</dc:identifier>
</cp:coreProperties>
</file>