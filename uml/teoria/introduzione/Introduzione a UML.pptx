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Montaser Arabic Bold" charset="1" panose="00000800000000000000"/>
      <p:regular r:id="rId15"/>
    </p:embeddedFont>
    <p:embeddedFont>
      <p:font typeface="Montaser Arabic" charset="1" panose="00000500000000000000"/>
      <p:regular r:id="rId16"/>
    </p:embeddedFont>
    <p:embeddedFont>
      <p:font typeface="Montaser Arabic Semi-Bold" charset="1" panose="00000700000000000000"/>
      <p:regular r:id="rId17"/>
    </p:embeddedFont>
    <p:embeddedFont>
      <p:font typeface="Prompt Bold" charset="1" panose="00000800000000000000"/>
      <p:regular r:id="rId18"/>
    </p:embeddedFont>
    <p:embeddedFont>
      <p:font typeface="Prompt" charset="1" panose="00000500000000000000"/>
      <p:regular r:id="rId19"/>
    </p:embeddedFont>
    <p:embeddedFont>
      <p:font typeface="Prompt Semi-Bold" charset="1" panose="00000700000000000000"/>
      <p:regular r:id="rId20"/>
    </p:embeddedFont>
    <p:embeddedFont>
      <p:font typeface="Montserrat Bold" charset="1" panose="00000800000000000000"/>
      <p:regular r:id="rId21"/>
    </p:embeddedFont>
    <p:embeddedFont>
      <p:font typeface="Montserrat Semi-Bold" charset="1" panose="00000700000000000000"/>
      <p:regular r:id="rId22"/>
    </p:embeddedFont>
    <p:embeddedFont>
      <p:font typeface="Open Sauce Bold" charset="1" panose="00000800000000000000"/>
      <p:regular r:id="rId23"/>
    </p:embeddedFont>
    <p:embeddedFont>
      <p:font typeface="Open Sauce" charset="1" panose="00000500000000000000"/>
      <p:regular r:id="rId24"/>
    </p:embeddedFont>
    <p:embeddedFont>
      <p:font typeface="Roboto Bold" charset="1" panose="02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png" Type="http://schemas.openxmlformats.org/officeDocument/2006/relationships/image"/><Relationship Id="rId11" Target="../media/image23.png" Type="http://schemas.openxmlformats.org/officeDocument/2006/relationships/image"/><Relationship Id="rId12" Target="../media/image24.png" Type="http://schemas.openxmlformats.org/officeDocument/2006/relationships/image"/><Relationship Id="rId13" Target="../media/image25.png" Type="http://schemas.openxmlformats.org/officeDocument/2006/relationships/image"/><Relationship Id="rId14" Target="../media/image26.png" Type="http://schemas.openxmlformats.org/officeDocument/2006/relationships/image"/><Relationship Id="rId15" Target="../media/image27.png" Type="http://schemas.openxmlformats.org/officeDocument/2006/relationships/image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Relationship Id="rId6" Target="../media/image18.png" Type="http://schemas.openxmlformats.org/officeDocument/2006/relationships/image"/><Relationship Id="rId7" Target="../media/image19.png" Type="http://schemas.openxmlformats.org/officeDocument/2006/relationships/image"/><Relationship Id="rId8" Target="../media/image20.png" Type="http://schemas.openxmlformats.org/officeDocument/2006/relationships/image"/><Relationship Id="rId9" Target="../media/image2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6.png" Type="http://schemas.openxmlformats.org/officeDocument/2006/relationships/image"/><Relationship Id="rId11" Target="../media/image37.png" Type="http://schemas.openxmlformats.org/officeDocument/2006/relationships/image"/><Relationship Id="rId2" Target="../media/image28.png" Type="http://schemas.openxmlformats.org/officeDocument/2006/relationships/image"/><Relationship Id="rId3" Target="../media/image29.png" Type="http://schemas.openxmlformats.org/officeDocument/2006/relationships/image"/><Relationship Id="rId4" Target="../media/image30.png" Type="http://schemas.openxmlformats.org/officeDocument/2006/relationships/image"/><Relationship Id="rId5" Target="../media/image31.png" Type="http://schemas.openxmlformats.org/officeDocument/2006/relationships/image"/><Relationship Id="rId6" Target="../media/image32.png" Type="http://schemas.openxmlformats.org/officeDocument/2006/relationships/image"/><Relationship Id="rId7" Target="../media/image33.png" Type="http://schemas.openxmlformats.org/officeDocument/2006/relationships/image"/><Relationship Id="rId8" Target="../media/image34.png" Type="http://schemas.openxmlformats.org/officeDocument/2006/relationships/image"/><Relationship Id="rId9" Target="../media/image3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9.png" Type="http://schemas.openxmlformats.org/officeDocument/2006/relationships/image"/><Relationship Id="rId11" Target="../media/image60.png" Type="http://schemas.openxmlformats.org/officeDocument/2006/relationships/image"/><Relationship Id="rId12" Target="../media/image61.png" Type="http://schemas.openxmlformats.org/officeDocument/2006/relationships/image"/><Relationship Id="rId13" Target="../media/image62.png" Type="http://schemas.openxmlformats.org/officeDocument/2006/relationships/image"/><Relationship Id="rId14" Target="../media/image63.png" Type="http://schemas.openxmlformats.org/officeDocument/2006/relationships/image"/><Relationship Id="rId15" Target="../media/image64.png" Type="http://schemas.openxmlformats.org/officeDocument/2006/relationships/image"/><Relationship Id="rId16" Target="../media/image65.png" Type="http://schemas.openxmlformats.org/officeDocument/2006/relationships/image"/><Relationship Id="rId17" Target="../media/image66.png" Type="http://schemas.openxmlformats.org/officeDocument/2006/relationships/image"/><Relationship Id="rId18" Target="../media/image67.png" Type="http://schemas.openxmlformats.org/officeDocument/2006/relationships/image"/><Relationship Id="rId19" Target="../media/image68.png" Type="http://schemas.openxmlformats.org/officeDocument/2006/relationships/image"/><Relationship Id="rId2" Target="../media/image51.png" Type="http://schemas.openxmlformats.org/officeDocument/2006/relationships/image"/><Relationship Id="rId20" Target="../media/image69.png" Type="http://schemas.openxmlformats.org/officeDocument/2006/relationships/image"/><Relationship Id="rId21" Target="../media/image70.png" Type="http://schemas.openxmlformats.org/officeDocument/2006/relationships/image"/><Relationship Id="rId22" Target="../media/image71.png" Type="http://schemas.openxmlformats.org/officeDocument/2006/relationships/image"/><Relationship Id="rId23" Target="../media/image72.png" Type="http://schemas.openxmlformats.org/officeDocument/2006/relationships/image"/><Relationship Id="rId24" Target="../media/image73.png" Type="http://schemas.openxmlformats.org/officeDocument/2006/relationships/image"/><Relationship Id="rId25" Target="../media/image74.png" Type="http://schemas.openxmlformats.org/officeDocument/2006/relationships/image"/><Relationship Id="rId26" Target="../media/image75.png" Type="http://schemas.openxmlformats.org/officeDocument/2006/relationships/image"/><Relationship Id="rId27" Target="../media/image76.png" Type="http://schemas.openxmlformats.org/officeDocument/2006/relationships/image"/><Relationship Id="rId3" Target="../media/image52.png" Type="http://schemas.openxmlformats.org/officeDocument/2006/relationships/image"/><Relationship Id="rId4" Target="../media/image53.png" Type="http://schemas.openxmlformats.org/officeDocument/2006/relationships/image"/><Relationship Id="rId5" Target="../media/image54.png" Type="http://schemas.openxmlformats.org/officeDocument/2006/relationships/image"/><Relationship Id="rId6" Target="../media/image55.png" Type="http://schemas.openxmlformats.org/officeDocument/2006/relationships/image"/><Relationship Id="rId7" Target="../media/image56.png" Type="http://schemas.openxmlformats.org/officeDocument/2006/relationships/image"/><Relationship Id="rId8" Target="../media/image57.png" Type="http://schemas.openxmlformats.org/officeDocument/2006/relationships/image"/><Relationship Id="rId9" Target="../media/image5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5.png" Type="http://schemas.openxmlformats.org/officeDocument/2006/relationships/image"/><Relationship Id="rId11" Target="../media/image86.png" Type="http://schemas.openxmlformats.org/officeDocument/2006/relationships/image"/><Relationship Id="rId12" Target="../media/image87.png" Type="http://schemas.openxmlformats.org/officeDocument/2006/relationships/image"/><Relationship Id="rId13" Target="../media/image88.png" Type="http://schemas.openxmlformats.org/officeDocument/2006/relationships/image"/><Relationship Id="rId14" Target="../media/image89.png" Type="http://schemas.openxmlformats.org/officeDocument/2006/relationships/image"/><Relationship Id="rId15" Target="../media/image90.png" Type="http://schemas.openxmlformats.org/officeDocument/2006/relationships/image"/><Relationship Id="rId16" Target="../media/image91.png" Type="http://schemas.openxmlformats.org/officeDocument/2006/relationships/image"/><Relationship Id="rId17" Target="../media/image92.png" Type="http://schemas.openxmlformats.org/officeDocument/2006/relationships/image"/><Relationship Id="rId18" Target="../media/image93.png" Type="http://schemas.openxmlformats.org/officeDocument/2006/relationships/image"/><Relationship Id="rId19" Target="../media/image94.png" Type="http://schemas.openxmlformats.org/officeDocument/2006/relationships/image"/><Relationship Id="rId2" Target="../media/image77.png" Type="http://schemas.openxmlformats.org/officeDocument/2006/relationships/image"/><Relationship Id="rId20" Target="../media/image95.png" Type="http://schemas.openxmlformats.org/officeDocument/2006/relationships/image"/><Relationship Id="rId3" Target="../media/image78.png" Type="http://schemas.openxmlformats.org/officeDocument/2006/relationships/image"/><Relationship Id="rId4" Target="../media/image79.png" Type="http://schemas.openxmlformats.org/officeDocument/2006/relationships/image"/><Relationship Id="rId5" Target="../media/image80.png" Type="http://schemas.openxmlformats.org/officeDocument/2006/relationships/image"/><Relationship Id="rId6" Target="../media/image81.png" Type="http://schemas.openxmlformats.org/officeDocument/2006/relationships/image"/><Relationship Id="rId7" Target="../media/image82.png" Type="http://schemas.openxmlformats.org/officeDocument/2006/relationships/image"/><Relationship Id="rId8" Target="../media/image83.png" Type="http://schemas.openxmlformats.org/officeDocument/2006/relationships/image"/><Relationship Id="rId9" Target="../media/image8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87552" y="1154068"/>
            <a:ext cx="8138160" cy="1459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51"/>
              </a:lnSpc>
            </a:pPr>
            <a:r>
              <a:rPr lang="en-US" sz="8536" b="true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Introduzione 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87552" y="2031159"/>
            <a:ext cx="4681728" cy="28036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16"/>
              </a:lnSpc>
            </a:pPr>
            <a:r>
              <a:rPr lang="en-US" sz="16368" b="true">
                <a:solidFill>
                  <a:srgbClr val="78B2E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UML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4128" y="4616768"/>
            <a:ext cx="8065008" cy="72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84"/>
              </a:lnSpc>
            </a:pPr>
            <a:r>
              <a:rPr lang="en-US" sz="4275" b="true">
                <a:solidFill>
                  <a:srgbClr val="78B2E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(Unified Modeling Language)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866775" y="5572125"/>
            <a:ext cx="2400300" cy="219075"/>
          </a:xfrm>
          <a:custGeom>
            <a:avLst/>
            <a:gdLst/>
            <a:ahLst/>
            <a:cxnLst/>
            <a:rect r="r" b="b" t="t" l="l"/>
            <a:pathLst>
              <a:path h="219075" w="2400300">
                <a:moveTo>
                  <a:pt x="0" y="0"/>
                </a:moveTo>
                <a:lnTo>
                  <a:pt x="2400300" y="0"/>
                </a:lnTo>
                <a:lnTo>
                  <a:pt x="24003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4128" y="6206585"/>
            <a:ext cx="8412480" cy="4391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2"/>
              </a:lnSpc>
            </a:pPr>
            <a:r>
              <a:rPr lang="en-US" sz="2587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Linguaggio di modellazione grafica standardizzato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4128" y="6953822"/>
            <a:ext cx="6364224" cy="1002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4"/>
              </a:lnSpc>
            </a:pPr>
            <a:r>
              <a:rPr lang="en-US" sz="2925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UML non è un linguaggio di programmazione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11763375" cy="10287000"/>
          </a:xfrm>
          <a:custGeom>
            <a:avLst/>
            <a:gdLst/>
            <a:ahLst/>
            <a:cxnLst/>
            <a:rect r="r" b="b" t="t" l="l"/>
            <a:pathLst>
              <a:path h="10287000" w="11763375">
                <a:moveTo>
                  <a:pt x="0" y="0"/>
                </a:moveTo>
                <a:lnTo>
                  <a:pt x="11763375" y="0"/>
                </a:lnTo>
                <a:lnTo>
                  <a:pt x="1176337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0"/>
            <a:ext cx="9144000" cy="10287000"/>
          </a:xfrm>
          <a:custGeom>
            <a:avLst/>
            <a:gdLst/>
            <a:ahLst/>
            <a:cxnLst/>
            <a:rect r="r" b="b" t="t" l="l"/>
            <a:pathLst>
              <a:path h="10287000" w="9144000">
                <a:moveTo>
                  <a:pt x="0" y="0"/>
                </a:moveTo>
                <a:lnTo>
                  <a:pt x="9144000" y="0"/>
                </a:lnTo>
                <a:lnTo>
                  <a:pt x="9144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987552" y="1270490"/>
            <a:ext cx="6053328" cy="2527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528"/>
              </a:lnSpc>
            </a:pPr>
            <a:r>
              <a:rPr lang="en-US" sz="10587" spc="-211" b="true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Scopi e Vantaggi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866775" y="5353050"/>
            <a:ext cx="2400300" cy="438150"/>
          </a:xfrm>
          <a:custGeom>
            <a:avLst/>
            <a:gdLst/>
            <a:ahLst/>
            <a:cxnLst/>
            <a:rect r="r" b="b" t="t" l="l"/>
            <a:pathLst>
              <a:path h="438150" w="2400300">
                <a:moveTo>
                  <a:pt x="0" y="0"/>
                </a:moveTo>
                <a:lnTo>
                  <a:pt x="2400300" y="0"/>
                </a:lnTo>
                <a:lnTo>
                  <a:pt x="24003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987552" y="6100572"/>
            <a:ext cx="5705856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603" spc="-52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Linguaggio comune e indipendente dal linguaggio di programmazione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87552" y="7235190"/>
            <a:ext cx="6803136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35"/>
              </a:lnSpc>
            </a:pPr>
            <a:r>
              <a:rPr lang="en-US" sz="2779" spc="-55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Migliora la comunicazione tra sviluppatori, analisti e stakeholder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87552" y="8415909"/>
            <a:ext cx="6309360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6"/>
              </a:lnSpc>
            </a:pPr>
            <a:r>
              <a:rPr lang="en-US" sz="2639" spc="-52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Supporta progettazione preventiva</a:t>
            </a:r>
          </a:p>
          <a:p>
            <a:pPr algn="l">
              <a:lnSpc>
                <a:spcPts val="3166"/>
              </a:lnSpc>
            </a:pPr>
            <a:r>
              <a:rPr lang="en-US" sz="2639" spc="-52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 documentazione dei sistemi esistenti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7552" y="3935458"/>
            <a:ext cx="4864608" cy="1351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85"/>
              </a:lnSpc>
            </a:pPr>
            <a:r>
              <a:rPr lang="en-US" sz="10984" spc="-219" b="true">
                <a:solidFill>
                  <a:srgbClr val="78B0D8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 UML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49808" y="1051421"/>
            <a:ext cx="7333488" cy="2967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05"/>
              </a:lnSpc>
            </a:pPr>
            <a:r>
              <a:rPr lang="en-US" sz="7705" spc="-77" b="true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Classificazione dei </a:t>
            </a:r>
            <a:r>
              <a:rPr lang="en-US" sz="7705" spc="-77" b="true">
                <a:solidFill>
                  <a:srgbClr val="70B5F8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Diagrammi UML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7700" y="4495800"/>
            <a:ext cx="2190750" cy="438150"/>
          </a:xfrm>
          <a:custGeom>
            <a:avLst/>
            <a:gdLst/>
            <a:ahLst/>
            <a:cxnLst/>
            <a:rect r="r" b="b" t="t" l="l"/>
            <a:pathLst>
              <a:path h="438150" w="2190750">
                <a:moveTo>
                  <a:pt x="0" y="0"/>
                </a:moveTo>
                <a:lnTo>
                  <a:pt x="2190750" y="0"/>
                </a:lnTo>
                <a:lnTo>
                  <a:pt x="2190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68096" y="5618226"/>
            <a:ext cx="5285232" cy="1333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spc="-2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UML definisce </a:t>
            </a:r>
            <a:r>
              <a:rPr lang="en-US" sz="2999" spc="-29" b="true">
                <a:solidFill>
                  <a:srgbClr val="70B5F8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14</a:t>
            </a:r>
            <a:r>
              <a:rPr lang="en-US" sz="2999" spc="-2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 diagrammi organizzati in due grandi famiglie complementari.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305550" y="3209925"/>
            <a:ext cx="3714750" cy="4076700"/>
          </a:xfrm>
          <a:custGeom>
            <a:avLst/>
            <a:gdLst/>
            <a:ahLst/>
            <a:cxnLst/>
            <a:rect r="r" b="b" t="t" l="l"/>
            <a:pathLst>
              <a:path h="4076700" w="3714750">
                <a:moveTo>
                  <a:pt x="0" y="0"/>
                </a:moveTo>
                <a:lnTo>
                  <a:pt x="3714750" y="0"/>
                </a:lnTo>
                <a:lnTo>
                  <a:pt x="3714750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791700" y="1495425"/>
            <a:ext cx="7848600" cy="3648075"/>
          </a:xfrm>
          <a:custGeom>
            <a:avLst/>
            <a:gdLst/>
            <a:ahLst/>
            <a:cxnLst/>
            <a:rect r="r" b="b" t="t" l="l"/>
            <a:pathLst>
              <a:path h="3648075" w="7848600">
                <a:moveTo>
                  <a:pt x="0" y="0"/>
                </a:moveTo>
                <a:lnTo>
                  <a:pt x="7848600" y="0"/>
                </a:lnTo>
                <a:lnTo>
                  <a:pt x="7848600" y="3648075"/>
                </a:lnTo>
                <a:lnTo>
                  <a:pt x="0" y="36480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369296" y="2170735"/>
            <a:ext cx="1078992" cy="1026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85"/>
              </a:lnSpc>
            </a:pPr>
            <a:r>
              <a:rPr lang="en-US" b="true" sz="7785" spc="-77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01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996928" y="2111121"/>
            <a:ext cx="3182112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7"/>
              </a:lnSpc>
            </a:pPr>
            <a:r>
              <a:rPr lang="en-US" b="true" sz="3573" spc="-35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DIAGRAMMI STRUTTURALI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996928" y="3511391"/>
            <a:ext cx="4864608" cy="962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72"/>
              </a:lnSpc>
            </a:pPr>
            <a:r>
              <a:rPr lang="en-US" sz="1837" spc="-18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Descrivono la struttura statica del sistema. Classi, oggetti, componenti, deployment, package, strutture composite.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9791700" y="5353050"/>
            <a:ext cx="7848600" cy="3867150"/>
          </a:xfrm>
          <a:custGeom>
            <a:avLst/>
            <a:gdLst/>
            <a:ahLst/>
            <a:cxnLst/>
            <a:rect r="r" b="b" t="t" l="l"/>
            <a:pathLst>
              <a:path h="3867150" w="7848600">
                <a:moveTo>
                  <a:pt x="0" y="0"/>
                </a:moveTo>
                <a:lnTo>
                  <a:pt x="7848600" y="0"/>
                </a:lnTo>
                <a:lnTo>
                  <a:pt x="7848600" y="3867150"/>
                </a:lnTo>
                <a:lnTo>
                  <a:pt x="0" y="38671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369296" y="5978247"/>
            <a:ext cx="1078992" cy="871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71"/>
              </a:lnSpc>
            </a:pPr>
            <a:r>
              <a:rPr lang="en-US" b="true" sz="6571" spc="-65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02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996928" y="5865114"/>
            <a:ext cx="4718304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7"/>
              </a:lnSpc>
            </a:pPr>
            <a:r>
              <a:rPr lang="en-US" b="true" sz="3522" spc="-35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DIAGRAMMI COMPORTAMENTALI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996928" y="7307056"/>
            <a:ext cx="5230368" cy="13234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1"/>
              </a:lnSpc>
            </a:pPr>
            <a:r>
              <a:rPr lang="en-US" sz="1893" spc="-18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Rappresentano il comportamento</a:t>
            </a:r>
          </a:p>
          <a:p>
            <a:pPr algn="l">
              <a:lnSpc>
                <a:spcPts val="2651"/>
              </a:lnSpc>
            </a:pPr>
            <a:r>
              <a:rPr lang="en-US" sz="1893" spc="-18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del sistema nel tempo.</a:t>
            </a:r>
          </a:p>
          <a:p>
            <a:pPr algn="l">
              <a:lnSpc>
                <a:spcPts val="2651"/>
              </a:lnSpc>
            </a:pPr>
            <a:r>
              <a:rPr lang="en-US" sz="1893" spc="-18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Casi d'uso, sequenza, attività, stato, comunicazione, interazione generale, tempi.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32688" y="1165698"/>
            <a:ext cx="6419088" cy="3342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4"/>
              </a:lnSpc>
            </a:pPr>
            <a:r>
              <a:rPr lang="en-US" sz="8820" spc="-264" b="true">
                <a:solidFill>
                  <a:srgbClr val="FFFFFF"/>
                </a:solidFill>
                <a:latin typeface="Montaser Arabic Semi-Bold"/>
                <a:ea typeface="Montaser Arabic Semi-Bold"/>
                <a:cs typeface="Montaser Arabic Semi-Bold"/>
                <a:sym typeface="Montaser Arabic Semi-Bold"/>
              </a:rPr>
              <a:t>Diagrammli </a:t>
            </a:r>
            <a:r>
              <a:rPr lang="en-US" sz="8820" spc="-264" b="true">
                <a:solidFill>
                  <a:srgbClr val="A2D0F4"/>
                </a:solidFill>
                <a:latin typeface="Montaser Arabic Semi-Bold"/>
                <a:ea typeface="Montaser Arabic Semi-Bold"/>
                <a:cs typeface="Montaser Arabic Semi-Bold"/>
                <a:sym typeface="Montaser Arabic Semi-Bold"/>
              </a:rPr>
              <a:t>Strutturali</a:t>
            </a:r>
            <a:r>
              <a:rPr lang="en-US" sz="8820" spc="-264" b="true">
                <a:solidFill>
                  <a:srgbClr val="FFFFFF"/>
                </a:solidFill>
                <a:latin typeface="Montaser Arabic Semi-Bold"/>
                <a:ea typeface="Montaser Arabic Semi-Bold"/>
                <a:cs typeface="Montaser Arabic Semi-Bold"/>
                <a:sym typeface="Montaser Arabic Semi-Bold"/>
              </a:rPr>
              <a:t> Principali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866775" y="4924425"/>
            <a:ext cx="2400300" cy="438150"/>
          </a:xfrm>
          <a:custGeom>
            <a:avLst/>
            <a:gdLst/>
            <a:ahLst/>
            <a:cxnLst/>
            <a:rect r="r" b="b" t="t" l="l"/>
            <a:pathLst>
              <a:path h="438150" w="2400300">
                <a:moveTo>
                  <a:pt x="0" y="0"/>
                </a:moveTo>
                <a:lnTo>
                  <a:pt x="2400300" y="0"/>
                </a:lnTo>
                <a:lnTo>
                  <a:pt x="24003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969264" y="5848159"/>
            <a:ext cx="493776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23"/>
              </a:lnSpc>
            </a:pPr>
            <a:r>
              <a:rPr lang="en-US" sz="3435" spc="-103" b="true">
                <a:solidFill>
                  <a:srgbClr val="A2D0F4"/>
                </a:solidFill>
                <a:latin typeface="Montaser Arabic Semi-Bold"/>
                <a:ea typeface="Montaser Arabic Semi-Bold"/>
                <a:cs typeface="Montaser Arabic Semi-Bold"/>
                <a:sym typeface="Montaser Arabic Semi-Bold"/>
              </a:rPr>
              <a:t>Diagramma delle Classi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69264" y="6523101"/>
            <a:ext cx="6181344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1"/>
              </a:lnSpc>
            </a:pPr>
            <a:r>
              <a:rPr lang="en-US" sz="2634" spc="-7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Descrive la struttura statica del sistema e le relazioni tra le sue componenti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69264" y="7839075"/>
            <a:ext cx="5559552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79"/>
              </a:lnSpc>
            </a:pPr>
            <a:r>
              <a:rPr lang="en-US" sz="3482" spc="-104" b="true">
                <a:solidFill>
                  <a:srgbClr val="A2D0F4"/>
                </a:solidFill>
                <a:latin typeface="Montaser Arabic Semi-Bold"/>
                <a:ea typeface="Montaser Arabic Semi-Bold"/>
                <a:cs typeface="Montaser Arabic Semi-Bold"/>
                <a:sym typeface="Montaser Arabic Semi-Bold"/>
              </a:rPr>
              <a:t>Diagramma dei Casi d’Uso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69264" y="8529066"/>
            <a:ext cx="5157216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61"/>
              </a:lnSpc>
            </a:pPr>
            <a:r>
              <a:rPr lang="en-US" sz="2634" spc="-7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Rappresenta attori e funzionalità dal punto di vista dell’utente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524625" y="857250"/>
            <a:ext cx="11763375" cy="9429750"/>
          </a:xfrm>
          <a:custGeom>
            <a:avLst/>
            <a:gdLst/>
            <a:ahLst/>
            <a:cxnLst/>
            <a:rect r="r" b="b" t="t" l="l"/>
            <a:pathLst>
              <a:path h="9429750" w="11763375">
                <a:moveTo>
                  <a:pt x="0" y="0"/>
                </a:moveTo>
                <a:lnTo>
                  <a:pt x="11763375" y="0"/>
                </a:lnTo>
                <a:lnTo>
                  <a:pt x="11763375" y="9429750"/>
                </a:lnTo>
                <a:lnTo>
                  <a:pt x="0" y="942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77824" y="1234184"/>
            <a:ext cx="8412480" cy="2131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60"/>
              </a:lnSpc>
            </a:pPr>
            <a:r>
              <a:rPr lang="en-US" sz="7866" spc="-393" b="true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Diagrammi Comportamentali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866775" y="4924425"/>
            <a:ext cx="2181225" cy="219075"/>
          </a:xfrm>
          <a:custGeom>
            <a:avLst/>
            <a:gdLst/>
            <a:ahLst/>
            <a:cxnLst/>
            <a:rect r="r" b="b" t="t" l="l"/>
            <a:pathLst>
              <a:path h="219075" w="2181225">
                <a:moveTo>
                  <a:pt x="0" y="0"/>
                </a:moveTo>
                <a:lnTo>
                  <a:pt x="2181225" y="0"/>
                </a:lnTo>
                <a:lnTo>
                  <a:pt x="21812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77824" y="6236887"/>
            <a:ext cx="6821424" cy="850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7"/>
              </a:lnSpc>
            </a:pPr>
            <a:r>
              <a:rPr lang="en-US" sz="2498" spc="-4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mostra le interazioni temporali tra oggetti tramite messaggi ordinati cronologicamente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77824" y="8026128"/>
            <a:ext cx="5961888" cy="1326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47"/>
              </a:lnSpc>
            </a:pPr>
            <a:r>
              <a:rPr lang="en-US" sz="2533" spc="-5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rappresenta il flusso di controllo o dati, simile a un flowchart per processi</a:t>
            </a:r>
          </a:p>
          <a:p>
            <a:pPr algn="l">
              <a:lnSpc>
                <a:spcPts val="3547"/>
              </a:lnSpc>
            </a:pPr>
            <a:r>
              <a:rPr lang="en-US" sz="2533" spc="-5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 workflow aziendali</a:t>
            </a:r>
          </a:p>
        </p:txBody>
      </p:sp>
      <p:sp>
        <p:nvSpPr>
          <p:cNvPr name="TextBox 8" id="8"/>
          <p:cNvSpPr txBox="true"/>
          <p:nvPr/>
        </p:nvSpPr>
        <p:spPr>
          <a:xfrm rot="-118800">
            <a:off x="10734558" y="2254690"/>
            <a:ext cx="2432304" cy="231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28"/>
              </a:lnSpc>
            </a:pPr>
            <a:r>
              <a:rPr lang="en-US" b="true" sz="1646" spc="-82">
                <a:solidFill>
                  <a:srgbClr val="003C6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Diagramma di Sequenza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229850" y="2781300"/>
            <a:ext cx="1095375" cy="647700"/>
          </a:xfrm>
          <a:custGeom>
            <a:avLst/>
            <a:gdLst/>
            <a:ahLst/>
            <a:cxnLst/>
            <a:rect r="r" b="b" t="t" l="l"/>
            <a:pathLst>
              <a:path h="647700" w="1095375">
                <a:moveTo>
                  <a:pt x="0" y="0"/>
                </a:moveTo>
                <a:lnTo>
                  <a:pt x="1095375" y="0"/>
                </a:lnTo>
                <a:lnTo>
                  <a:pt x="10953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-118800">
            <a:off x="10369100" y="3013493"/>
            <a:ext cx="694944" cy="16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20"/>
              </a:lnSpc>
            </a:pPr>
            <a:r>
              <a:rPr lang="en-US" sz="1162" spc="-58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Oggetto A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1315700" y="2781300"/>
            <a:ext cx="1095375" cy="647700"/>
          </a:xfrm>
          <a:custGeom>
            <a:avLst/>
            <a:gdLst/>
            <a:ahLst/>
            <a:cxnLst/>
            <a:rect r="r" b="b" t="t" l="l"/>
            <a:pathLst>
              <a:path h="647700" w="1095375">
                <a:moveTo>
                  <a:pt x="0" y="0"/>
                </a:moveTo>
                <a:lnTo>
                  <a:pt x="1095375" y="0"/>
                </a:lnTo>
                <a:lnTo>
                  <a:pt x="10953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-118800">
            <a:off x="11594396" y="3013493"/>
            <a:ext cx="694944" cy="16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20"/>
              </a:lnSpc>
            </a:pPr>
            <a:r>
              <a:rPr lang="en-US" sz="1162" spc="-58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Oggetto B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2620625" y="2781300"/>
            <a:ext cx="1095375" cy="647700"/>
          </a:xfrm>
          <a:custGeom>
            <a:avLst/>
            <a:gdLst/>
            <a:ahLst/>
            <a:cxnLst/>
            <a:rect r="r" b="b" t="t" l="l"/>
            <a:pathLst>
              <a:path h="647700" w="1095375">
                <a:moveTo>
                  <a:pt x="0" y="0"/>
                </a:moveTo>
                <a:lnTo>
                  <a:pt x="1095375" y="0"/>
                </a:lnTo>
                <a:lnTo>
                  <a:pt x="10953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0229850" y="3209925"/>
            <a:ext cx="3057525" cy="4076700"/>
          </a:xfrm>
          <a:custGeom>
            <a:avLst/>
            <a:gdLst/>
            <a:ahLst/>
            <a:cxnLst/>
            <a:rect r="r" b="b" t="t" l="l"/>
            <a:pathLst>
              <a:path h="4076700" w="3057525">
                <a:moveTo>
                  <a:pt x="0" y="0"/>
                </a:moveTo>
                <a:lnTo>
                  <a:pt x="3057525" y="0"/>
                </a:lnTo>
                <a:lnTo>
                  <a:pt x="3057525" y="4076700"/>
                </a:lnTo>
                <a:lnTo>
                  <a:pt x="0" y="40767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-118800">
            <a:off x="10881509" y="3867602"/>
            <a:ext cx="768096" cy="154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1092" spc="-54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messaggio 1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5668625" y="2571750"/>
            <a:ext cx="447675" cy="428625"/>
          </a:xfrm>
          <a:custGeom>
            <a:avLst/>
            <a:gdLst/>
            <a:ahLst/>
            <a:cxnLst/>
            <a:rect r="r" b="b" t="t" l="l"/>
            <a:pathLst>
              <a:path h="428625" w="447675">
                <a:moveTo>
                  <a:pt x="0" y="0"/>
                </a:moveTo>
                <a:lnTo>
                  <a:pt x="447675" y="0"/>
                </a:lnTo>
                <a:lnTo>
                  <a:pt x="447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5020925" y="3209925"/>
            <a:ext cx="1533525" cy="647700"/>
          </a:xfrm>
          <a:custGeom>
            <a:avLst/>
            <a:gdLst/>
            <a:ahLst/>
            <a:cxnLst/>
            <a:rect r="r" b="b" t="t" l="l"/>
            <a:pathLst>
              <a:path h="647700" w="1533525">
                <a:moveTo>
                  <a:pt x="0" y="0"/>
                </a:moveTo>
                <a:lnTo>
                  <a:pt x="1533525" y="0"/>
                </a:lnTo>
                <a:lnTo>
                  <a:pt x="15335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5020925" y="3857625"/>
            <a:ext cx="1533525" cy="647700"/>
          </a:xfrm>
          <a:custGeom>
            <a:avLst/>
            <a:gdLst/>
            <a:ahLst/>
            <a:cxnLst/>
            <a:rect r="r" b="b" t="t" l="l"/>
            <a:pathLst>
              <a:path h="647700" w="1533525">
                <a:moveTo>
                  <a:pt x="0" y="0"/>
                </a:moveTo>
                <a:lnTo>
                  <a:pt x="1533525" y="0"/>
                </a:lnTo>
                <a:lnTo>
                  <a:pt x="15335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-118800">
            <a:off x="15472010" y="4132899"/>
            <a:ext cx="768096" cy="188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69"/>
              </a:lnSpc>
            </a:pPr>
            <a:r>
              <a:rPr lang="en-US" sz="1399" spc="-69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Attività 2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5449550" y="4714875"/>
            <a:ext cx="666750" cy="857250"/>
          </a:xfrm>
          <a:custGeom>
            <a:avLst/>
            <a:gdLst/>
            <a:ahLst/>
            <a:cxnLst/>
            <a:rect r="r" b="b" t="t" l="l"/>
            <a:pathLst>
              <a:path h="857250" w="666750">
                <a:moveTo>
                  <a:pt x="0" y="0"/>
                </a:moveTo>
                <a:lnTo>
                  <a:pt x="666750" y="0"/>
                </a:lnTo>
                <a:lnTo>
                  <a:pt x="666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5020925" y="5781675"/>
            <a:ext cx="1533525" cy="647700"/>
          </a:xfrm>
          <a:custGeom>
            <a:avLst/>
            <a:gdLst/>
            <a:ahLst/>
            <a:cxnLst/>
            <a:rect r="r" b="b" t="t" l="l"/>
            <a:pathLst>
              <a:path h="647700" w="1533525">
                <a:moveTo>
                  <a:pt x="0" y="0"/>
                </a:moveTo>
                <a:lnTo>
                  <a:pt x="1533525" y="0"/>
                </a:lnTo>
                <a:lnTo>
                  <a:pt x="15335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-118800">
            <a:off x="15325706" y="6046281"/>
            <a:ext cx="768096" cy="188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69"/>
              </a:lnSpc>
            </a:pPr>
            <a:r>
              <a:rPr lang="en-US" sz="1399" spc="-69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Attività 3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5449550" y="6638925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3716000" y="1714500"/>
            <a:ext cx="438150" cy="6219825"/>
          </a:xfrm>
          <a:custGeom>
            <a:avLst/>
            <a:gdLst/>
            <a:ahLst/>
            <a:cxnLst/>
            <a:rect r="r" b="b" t="t" l="l"/>
            <a:pathLst>
              <a:path h="6219825" w="438150">
                <a:moveTo>
                  <a:pt x="0" y="0"/>
                </a:moveTo>
                <a:lnTo>
                  <a:pt x="438150" y="0"/>
                </a:lnTo>
                <a:lnTo>
                  <a:pt x="438150" y="6219825"/>
                </a:lnTo>
                <a:lnTo>
                  <a:pt x="0" y="62198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877824" y="3435188"/>
            <a:ext cx="4901184" cy="120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08"/>
              </a:lnSpc>
            </a:pPr>
            <a:r>
              <a:rPr lang="en-US" sz="8770" spc="-438" b="true">
                <a:solidFill>
                  <a:srgbClr val="70B0E1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Principali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77824" y="5761482"/>
            <a:ext cx="4005072" cy="36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700" spc="-135" b="true">
                <a:solidFill>
                  <a:srgbClr val="70B0E1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Diagramma di Sequenza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77824" y="7541490"/>
            <a:ext cx="4023360" cy="365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5"/>
              </a:lnSpc>
            </a:pPr>
            <a:r>
              <a:rPr lang="en-US" sz="2662" spc="-133" b="true">
                <a:solidFill>
                  <a:srgbClr val="70B0E1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Diagramma delle Attività</a:t>
            </a:r>
          </a:p>
        </p:txBody>
      </p:sp>
      <p:sp>
        <p:nvSpPr>
          <p:cNvPr name="TextBox 28" id="28"/>
          <p:cNvSpPr txBox="true"/>
          <p:nvPr/>
        </p:nvSpPr>
        <p:spPr>
          <a:xfrm rot="-118800">
            <a:off x="14630275" y="2103872"/>
            <a:ext cx="2688336" cy="233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69"/>
              </a:lnSpc>
            </a:pPr>
            <a:r>
              <a:rPr lang="en-US" b="true" sz="1780" spc="-89">
                <a:solidFill>
                  <a:srgbClr val="003C6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Diagramma delle Attività</a:t>
            </a:r>
          </a:p>
        </p:txBody>
      </p:sp>
      <p:sp>
        <p:nvSpPr>
          <p:cNvPr name="TextBox 29" id="29"/>
          <p:cNvSpPr txBox="true"/>
          <p:nvPr/>
        </p:nvSpPr>
        <p:spPr>
          <a:xfrm rot="-118800">
            <a:off x="12837980" y="3013493"/>
            <a:ext cx="694944" cy="165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20"/>
              </a:lnSpc>
            </a:pPr>
            <a:r>
              <a:rPr lang="en-US" sz="1162" spc="-58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Oggetto C</a:t>
            </a:r>
          </a:p>
        </p:txBody>
      </p:sp>
      <p:sp>
        <p:nvSpPr>
          <p:cNvPr name="TextBox 30" id="30"/>
          <p:cNvSpPr txBox="true"/>
          <p:nvPr/>
        </p:nvSpPr>
        <p:spPr>
          <a:xfrm rot="-118800">
            <a:off x="11448262" y="5096830"/>
            <a:ext cx="768096" cy="144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2"/>
              </a:lnSpc>
            </a:pPr>
            <a:r>
              <a:rPr lang="en-US" sz="1059" spc="-52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messaggio 2</a:t>
            </a:r>
          </a:p>
        </p:txBody>
      </p:sp>
      <p:sp>
        <p:nvSpPr>
          <p:cNvPr name="TextBox 31" id="31"/>
          <p:cNvSpPr txBox="true"/>
          <p:nvPr/>
        </p:nvSpPr>
        <p:spPr>
          <a:xfrm rot="-118800">
            <a:off x="11301958" y="6392992"/>
            <a:ext cx="768096" cy="144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2"/>
              </a:lnSpc>
            </a:pPr>
            <a:r>
              <a:rPr lang="en-US" sz="1059" spc="-52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messaggio 3</a:t>
            </a:r>
          </a:p>
        </p:txBody>
      </p:sp>
      <p:sp>
        <p:nvSpPr>
          <p:cNvPr name="TextBox 32" id="32"/>
          <p:cNvSpPr txBox="true"/>
          <p:nvPr/>
        </p:nvSpPr>
        <p:spPr>
          <a:xfrm rot="-118800">
            <a:off x="10954661" y="4464248"/>
            <a:ext cx="585216" cy="154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1092" spc="-54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risposta 1</a:t>
            </a:r>
          </a:p>
        </p:txBody>
      </p:sp>
      <p:sp>
        <p:nvSpPr>
          <p:cNvPr name="TextBox 33" id="33"/>
          <p:cNvSpPr txBox="true"/>
          <p:nvPr/>
        </p:nvSpPr>
        <p:spPr>
          <a:xfrm rot="-118800">
            <a:off x="10954486" y="5683189"/>
            <a:ext cx="585216" cy="144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2"/>
              </a:lnSpc>
            </a:pPr>
            <a:r>
              <a:rPr lang="en-US" sz="1059" spc="-52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risposta 2</a:t>
            </a:r>
          </a:p>
        </p:txBody>
      </p:sp>
      <p:sp>
        <p:nvSpPr>
          <p:cNvPr name="TextBox 34" id="34"/>
          <p:cNvSpPr txBox="true"/>
          <p:nvPr/>
        </p:nvSpPr>
        <p:spPr>
          <a:xfrm rot="-118800">
            <a:off x="15472010" y="3423096"/>
            <a:ext cx="768096" cy="188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69"/>
              </a:lnSpc>
            </a:pPr>
            <a:r>
              <a:rPr lang="en-US" sz="1399" spc="-69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Attività 1</a:t>
            </a:r>
          </a:p>
        </p:txBody>
      </p:sp>
      <p:sp>
        <p:nvSpPr>
          <p:cNvPr name="TextBox 35" id="35"/>
          <p:cNvSpPr txBox="true"/>
          <p:nvPr/>
        </p:nvSpPr>
        <p:spPr>
          <a:xfrm rot="-118800">
            <a:off x="14502533" y="4958024"/>
            <a:ext cx="201168" cy="154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1092" spc="-54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</a:t>
            </a:r>
          </a:p>
        </p:txBody>
      </p:sp>
      <p:sp>
        <p:nvSpPr>
          <p:cNvPr name="TextBox 36" id="36"/>
          <p:cNvSpPr txBox="true"/>
          <p:nvPr/>
        </p:nvSpPr>
        <p:spPr>
          <a:xfrm rot="-118800">
            <a:off x="14941445" y="4958024"/>
            <a:ext cx="201168" cy="154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"/>
              </a:lnSpc>
            </a:pPr>
            <a:r>
              <a:rPr lang="en-US" sz="1092" spc="-54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</a:t>
            </a:r>
          </a:p>
        </p:txBody>
      </p:sp>
      <p:sp>
        <p:nvSpPr>
          <p:cNvPr name="TextBox 37" id="37"/>
          <p:cNvSpPr txBox="true"/>
          <p:nvPr/>
        </p:nvSpPr>
        <p:spPr>
          <a:xfrm rot="-118800">
            <a:off x="15837770" y="5593653"/>
            <a:ext cx="201168" cy="188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69"/>
              </a:lnSpc>
            </a:pPr>
            <a:r>
              <a:rPr lang="en-US" sz="1399" spc="-69">
                <a:solidFill>
                  <a:srgbClr val="003C6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si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31520" y="1033253"/>
            <a:ext cx="10533888" cy="2104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20"/>
              </a:lnSpc>
            </a:pPr>
            <a:r>
              <a:rPr lang="en-US" sz="7473" spc="-373" b="true">
                <a:solidFill>
                  <a:srgbClr val="FFFFFF"/>
                </a:solidFill>
                <a:latin typeface="Prompt Bold"/>
                <a:ea typeface="Prompt Bold"/>
                <a:cs typeface="Prompt Bold"/>
                <a:sym typeface="Prompt Bold"/>
              </a:rPr>
              <a:t>Esempio — </a:t>
            </a:r>
            <a:r>
              <a:rPr lang="en-US" sz="7473" spc="-373" b="true">
                <a:solidFill>
                  <a:srgbClr val="3972B7"/>
                </a:solidFill>
                <a:latin typeface="Prompt Bold"/>
                <a:ea typeface="Prompt Bold"/>
                <a:cs typeface="Prompt Bold"/>
                <a:sym typeface="Prompt Bold"/>
              </a:rPr>
              <a:t>Diagramma delle Classi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7700" y="3429000"/>
            <a:ext cx="2190750" cy="428625"/>
          </a:xfrm>
          <a:custGeom>
            <a:avLst/>
            <a:gdLst/>
            <a:ahLst/>
            <a:cxnLst/>
            <a:rect r="r" b="b" t="t" l="l"/>
            <a:pathLst>
              <a:path h="428625" w="2190750">
                <a:moveTo>
                  <a:pt x="0" y="0"/>
                </a:moveTo>
                <a:lnTo>
                  <a:pt x="2190750" y="0"/>
                </a:lnTo>
                <a:lnTo>
                  <a:pt x="2190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47700" y="4714875"/>
            <a:ext cx="1095375" cy="857250"/>
          </a:xfrm>
          <a:custGeom>
            <a:avLst/>
            <a:gdLst/>
            <a:ahLst/>
            <a:cxnLst/>
            <a:rect r="r" b="b" t="t" l="l"/>
            <a:pathLst>
              <a:path h="857250" w="1095375">
                <a:moveTo>
                  <a:pt x="0" y="0"/>
                </a:moveTo>
                <a:lnTo>
                  <a:pt x="1095375" y="0"/>
                </a:lnTo>
                <a:lnTo>
                  <a:pt x="10953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92224" y="4898398"/>
            <a:ext cx="2249424" cy="1122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5"/>
              </a:lnSpc>
            </a:pPr>
            <a:r>
              <a:rPr lang="en-US" sz="2043" spc="-40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Descrive struttura, attributi, metodi</a:t>
            </a:r>
          </a:p>
          <a:p>
            <a:pPr algn="l">
              <a:lnSpc>
                <a:spcPts val="3065"/>
              </a:lnSpc>
            </a:pPr>
            <a:r>
              <a:rPr lang="en-US" sz="2043" spc="-40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e relazioni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4572000" y="4286250"/>
            <a:ext cx="3267075" cy="3429000"/>
          </a:xfrm>
          <a:custGeom>
            <a:avLst/>
            <a:gdLst/>
            <a:ahLst/>
            <a:cxnLst/>
            <a:rect r="r" b="b" t="t" l="l"/>
            <a:pathLst>
              <a:path h="3429000" w="3267075">
                <a:moveTo>
                  <a:pt x="0" y="0"/>
                </a:moveTo>
                <a:lnTo>
                  <a:pt x="3267075" y="0"/>
                </a:lnTo>
                <a:lnTo>
                  <a:pt x="3267075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779008" y="4712020"/>
            <a:ext cx="987552" cy="346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1"/>
              </a:lnSpc>
            </a:pPr>
            <a:r>
              <a:rPr lang="en-US" b="true" sz="2519" spc="-125">
                <a:solidFill>
                  <a:srgbClr val="001524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Utente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992624" y="5578751"/>
            <a:ext cx="1609344" cy="3368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1"/>
              </a:lnSpc>
            </a:pPr>
            <a:r>
              <a:rPr lang="en-US" sz="1907" spc="-38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- nome: String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992624" y="6083216"/>
            <a:ext cx="1572768" cy="33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93"/>
              </a:lnSpc>
            </a:pPr>
            <a:r>
              <a:rPr lang="en-US" sz="1928" spc="-38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- email: String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992624" y="7045479"/>
            <a:ext cx="2633472" cy="272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7"/>
              </a:lnSpc>
            </a:pPr>
            <a:r>
              <a:rPr lang="en-US" sz="1591" spc="-31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+ richiediPrestito {}; Prestito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7829550" y="5572125"/>
            <a:ext cx="1971675" cy="428625"/>
          </a:xfrm>
          <a:custGeom>
            <a:avLst/>
            <a:gdLst/>
            <a:ahLst/>
            <a:cxnLst/>
            <a:rect r="r" b="b" t="t" l="l"/>
            <a:pathLst>
              <a:path h="428625" w="1971675">
                <a:moveTo>
                  <a:pt x="0" y="0"/>
                </a:moveTo>
                <a:lnTo>
                  <a:pt x="1971675" y="0"/>
                </a:lnTo>
                <a:lnTo>
                  <a:pt x="1971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119872" y="6083216"/>
            <a:ext cx="950976" cy="33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3"/>
              </a:lnSpc>
            </a:pPr>
            <a:r>
              <a:rPr lang="en-US" sz="1928" spc="-38">
                <a:solidFill>
                  <a:srgbClr val="FFFFFF"/>
                </a:solidFill>
                <a:latin typeface="Prompt"/>
                <a:ea typeface="Prompt"/>
                <a:cs typeface="Prompt"/>
                <a:sym typeface="Prompt"/>
              </a:rPr>
              <a:t>effettua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9144000" y="6000750"/>
            <a:ext cx="438150" cy="428625"/>
          </a:xfrm>
          <a:custGeom>
            <a:avLst/>
            <a:gdLst/>
            <a:ahLst/>
            <a:cxnLst/>
            <a:rect r="r" b="b" t="t" l="l"/>
            <a:pathLst>
              <a:path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572625" y="4286250"/>
            <a:ext cx="3276600" cy="3429000"/>
          </a:xfrm>
          <a:custGeom>
            <a:avLst/>
            <a:gdLst/>
            <a:ahLst/>
            <a:cxnLst/>
            <a:rect r="r" b="b" t="t" l="l"/>
            <a:pathLst>
              <a:path h="3429000" w="3276600">
                <a:moveTo>
                  <a:pt x="0" y="0"/>
                </a:moveTo>
                <a:lnTo>
                  <a:pt x="3276600" y="0"/>
                </a:lnTo>
                <a:lnTo>
                  <a:pt x="3276600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643616" y="4712020"/>
            <a:ext cx="1133856" cy="346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1"/>
              </a:lnSpc>
            </a:pPr>
            <a:r>
              <a:rPr lang="en-US" b="true" sz="2519" spc="-125">
                <a:solidFill>
                  <a:srgbClr val="001524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Prestito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966960" y="5579153"/>
            <a:ext cx="1938528" cy="33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93"/>
              </a:lnSpc>
            </a:pPr>
            <a:r>
              <a:rPr lang="en-US" sz="1928" spc="-38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- datalnizio: Date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966960" y="6082814"/>
            <a:ext cx="1810512" cy="3368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1"/>
              </a:lnSpc>
            </a:pPr>
            <a:r>
              <a:rPr lang="en-US" sz="1907" spc="-38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- dataFine: Date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2620625" y="5572125"/>
            <a:ext cx="1971675" cy="428625"/>
          </a:xfrm>
          <a:custGeom>
            <a:avLst/>
            <a:gdLst/>
            <a:ahLst/>
            <a:cxnLst/>
            <a:rect r="r" b="b" t="t" l="l"/>
            <a:pathLst>
              <a:path h="428625" w="1971675">
                <a:moveTo>
                  <a:pt x="0" y="0"/>
                </a:moveTo>
                <a:lnTo>
                  <a:pt x="1971675" y="0"/>
                </a:lnTo>
                <a:lnTo>
                  <a:pt x="1971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2966192" y="6083216"/>
            <a:ext cx="1024128" cy="33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3"/>
              </a:lnSpc>
            </a:pPr>
            <a:r>
              <a:rPr lang="en-US" sz="1928" spc="-38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riguarda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3925550" y="6000750"/>
            <a:ext cx="447675" cy="428625"/>
          </a:xfrm>
          <a:custGeom>
            <a:avLst/>
            <a:gdLst/>
            <a:ahLst/>
            <a:cxnLst/>
            <a:rect r="r" b="b" t="t" l="l"/>
            <a:pathLst>
              <a:path h="428625" w="447675">
                <a:moveTo>
                  <a:pt x="0" y="0"/>
                </a:moveTo>
                <a:lnTo>
                  <a:pt x="447675" y="0"/>
                </a:lnTo>
                <a:lnTo>
                  <a:pt x="447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4363700" y="4286250"/>
            <a:ext cx="3495675" cy="3429000"/>
          </a:xfrm>
          <a:custGeom>
            <a:avLst/>
            <a:gdLst/>
            <a:ahLst/>
            <a:cxnLst/>
            <a:rect r="r" b="b" t="t" l="l"/>
            <a:pathLst>
              <a:path h="3429000" w="3495675">
                <a:moveTo>
                  <a:pt x="0" y="0"/>
                </a:moveTo>
                <a:lnTo>
                  <a:pt x="3495675" y="0"/>
                </a:lnTo>
                <a:lnTo>
                  <a:pt x="3495675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5727680" y="4712020"/>
            <a:ext cx="731520" cy="346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1"/>
              </a:lnSpc>
            </a:pPr>
            <a:r>
              <a:rPr lang="en-US" b="true" sz="2519" spc="-125">
                <a:solidFill>
                  <a:srgbClr val="001524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Libro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923008" y="5590627"/>
            <a:ext cx="1444752" cy="313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1"/>
              </a:lnSpc>
            </a:pPr>
            <a:r>
              <a:rPr lang="en-US" sz="1781" spc="-35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- titolo: String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923008" y="6083216"/>
            <a:ext cx="1426464" cy="33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93"/>
              </a:lnSpc>
            </a:pPr>
            <a:r>
              <a:rPr lang="en-US" sz="1928" spc="-38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-ISBN: String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831568" y="7006635"/>
            <a:ext cx="1609344" cy="331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3"/>
              </a:lnSpc>
            </a:pPr>
            <a:r>
              <a:rPr lang="en-US" sz="1802" spc="-36">
                <a:solidFill>
                  <a:srgbClr val="001524"/>
                </a:solidFill>
                <a:latin typeface="Prompt"/>
                <a:ea typeface="Prompt"/>
                <a:cs typeface="Prompt"/>
                <a:sym typeface="Prompt"/>
              </a:rPr>
              <a:t>+ presta(); void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991856" y="5308666"/>
            <a:ext cx="128016" cy="346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1"/>
              </a:lnSpc>
            </a:pPr>
            <a:r>
              <a:rPr lang="en-US" b="true" sz="2519" spc="-125">
                <a:solidFill>
                  <a:srgbClr val="FFFFFF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1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308592" y="5308666"/>
            <a:ext cx="182880" cy="346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1"/>
              </a:lnSpc>
            </a:pPr>
            <a:r>
              <a:rPr lang="en-US" b="true" sz="2519" spc="-125">
                <a:solidFill>
                  <a:srgbClr val="FFFFFF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*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911328" y="5308666"/>
            <a:ext cx="182880" cy="346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1"/>
              </a:lnSpc>
            </a:pPr>
            <a:r>
              <a:rPr lang="en-US" b="true" sz="2519" spc="-125">
                <a:solidFill>
                  <a:srgbClr val="FFFFFF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*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209776" y="5308666"/>
            <a:ext cx="128016" cy="346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71"/>
              </a:lnSpc>
            </a:pPr>
            <a:r>
              <a:rPr lang="en-US" b="true" sz="2519" spc="-125">
                <a:solidFill>
                  <a:srgbClr val="FFFFFF"/>
                </a:solidFill>
                <a:latin typeface="Prompt Semi-Bold"/>
                <a:ea typeface="Prompt Semi-Bold"/>
                <a:cs typeface="Prompt Semi-Bold"/>
                <a:sym typeface="Prompt Semi-Bold"/>
              </a:rPr>
              <a:t>1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58368" y="1697927"/>
            <a:ext cx="5065776" cy="2714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74"/>
              </a:lnSpc>
            </a:pPr>
            <a:r>
              <a:rPr lang="en-US" sz="5978" spc="-298" b="tru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Esempio — Diagramma </a:t>
            </a:r>
            <a:r>
              <a:rPr lang="en-US" sz="5978" spc="-298" b="true">
                <a:solidFill>
                  <a:srgbClr val="70C9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dei Casi d’Uso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7700" y="4924425"/>
            <a:ext cx="1971675" cy="219075"/>
          </a:xfrm>
          <a:custGeom>
            <a:avLst/>
            <a:gdLst/>
            <a:ahLst/>
            <a:cxnLst/>
            <a:rect r="r" b="b" t="t" l="l"/>
            <a:pathLst>
              <a:path h="219075" w="1971675">
                <a:moveTo>
                  <a:pt x="0" y="0"/>
                </a:moveTo>
                <a:lnTo>
                  <a:pt x="1971675" y="0"/>
                </a:lnTo>
                <a:lnTo>
                  <a:pt x="197167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694944" y="5903178"/>
            <a:ext cx="3858768" cy="134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2"/>
              </a:lnSpc>
            </a:pPr>
            <a:r>
              <a:rPr lang="en-US" sz="2428" spc="-48" b="true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Rappresenta funzionalità e interazioni dal punto di vista degli utenti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8705850" y="1066800"/>
            <a:ext cx="6105525" cy="8362950"/>
          </a:xfrm>
          <a:custGeom>
            <a:avLst/>
            <a:gdLst/>
            <a:ahLst/>
            <a:cxnLst/>
            <a:rect r="r" b="b" t="t" l="l"/>
            <a:pathLst>
              <a:path h="8362950" w="6105525">
                <a:moveTo>
                  <a:pt x="0" y="0"/>
                </a:moveTo>
                <a:lnTo>
                  <a:pt x="6105525" y="0"/>
                </a:lnTo>
                <a:lnTo>
                  <a:pt x="6105525" y="8362950"/>
                </a:lnTo>
                <a:lnTo>
                  <a:pt x="0" y="83629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332720" y="1598015"/>
            <a:ext cx="2852928" cy="367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42"/>
              </a:lnSpc>
            </a:pPr>
            <a:r>
              <a:rPr lang="en-US" b="true" sz="2095" spc="-41">
                <a:solidFill>
                  <a:srgbClr val="003C6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Sistema di Biblioteca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010775" y="2352675"/>
            <a:ext cx="3495675" cy="1504950"/>
          </a:xfrm>
          <a:custGeom>
            <a:avLst/>
            <a:gdLst/>
            <a:ahLst/>
            <a:cxnLst/>
            <a:rect r="r" b="b" t="t" l="l"/>
            <a:pathLst>
              <a:path h="1504950" w="3495675">
                <a:moveTo>
                  <a:pt x="0" y="0"/>
                </a:moveTo>
                <a:lnTo>
                  <a:pt x="3495675" y="0"/>
                </a:lnTo>
                <a:lnTo>
                  <a:pt x="34956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010775" y="4067175"/>
            <a:ext cx="3495675" cy="1504950"/>
          </a:xfrm>
          <a:custGeom>
            <a:avLst/>
            <a:gdLst/>
            <a:ahLst/>
            <a:cxnLst/>
            <a:rect r="r" b="b" t="t" l="l"/>
            <a:pathLst>
              <a:path h="1504950" w="3495675">
                <a:moveTo>
                  <a:pt x="0" y="0"/>
                </a:moveTo>
                <a:lnTo>
                  <a:pt x="3495675" y="0"/>
                </a:lnTo>
                <a:lnTo>
                  <a:pt x="34956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881360" y="4585025"/>
            <a:ext cx="1719072" cy="360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5"/>
              </a:lnSpc>
            </a:pPr>
            <a:r>
              <a:rPr lang="en-US" b="true" sz="2043" spc="-40">
                <a:solidFill>
                  <a:srgbClr val="003C6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Prenota libro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0010775" y="5572125"/>
            <a:ext cx="3495675" cy="1714500"/>
          </a:xfrm>
          <a:custGeom>
            <a:avLst/>
            <a:gdLst/>
            <a:ahLst/>
            <a:cxnLst/>
            <a:rect r="r" b="b" t="t" l="l"/>
            <a:pathLst>
              <a:path h="1714500" w="3495675">
                <a:moveTo>
                  <a:pt x="0" y="0"/>
                </a:moveTo>
                <a:lnTo>
                  <a:pt x="3495675" y="0"/>
                </a:lnTo>
                <a:lnTo>
                  <a:pt x="34956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625328" y="6268313"/>
            <a:ext cx="2231136" cy="367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42"/>
              </a:lnSpc>
            </a:pPr>
            <a:r>
              <a:rPr lang="en-US" b="true" sz="2095" spc="-41">
                <a:solidFill>
                  <a:srgbClr val="003C6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Effettua prestito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010775" y="7286625"/>
            <a:ext cx="3495675" cy="1504950"/>
          </a:xfrm>
          <a:custGeom>
            <a:avLst/>
            <a:gdLst/>
            <a:ahLst/>
            <a:cxnLst/>
            <a:rect r="r" b="b" t="t" l="l"/>
            <a:pathLst>
              <a:path h="1504950" w="3495675">
                <a:moveTo>
                  <a:pt x="0" y="0"/>
                </a:moveTo>
                <a:lnTo>
                  <a:pt x="3495675" y="0"/>
                </a:lnTo>
                <a:lnTo>
                  <a:pt x="34956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369296" y="7893168"/>
            <a:ext cx="2779776" cy="368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b="true" sz="2069" spc="-41">
                <a:solidFill>
                  <a:srgbClr val="003C6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Registra restituzione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6524625" y="3638550"/>
            <a:ext cx="1095375" cy="1933575"/>
          </a:xfrm>
          <a:custGeom>
            <a:avLst/>
            <a:gdLst/>
            <a:ahLst/>
            <a:cxnLst/>
            <a:rect r="r" b="b" t="t" l="l"/>
            <a:pathLst>
              <a:path h="1933575" w="1095375">
                <a:moveTo>
                  <a:pt x="0" y="0"/>
                </a:moveTo>
                <a:lnTo>
                  <a:pt x="1095375" y="0"/>
                </a:lnTo>
                <a:lnTo>
                  <a:pt x="109537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6638544" y="5643042"/>
            <a:ext cx="950976" cy="383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58"/>
              </a:lnSpc>
            </a:pPr>
            <a:r>
              <a:rPr lang="en-US" b="true" sz="2172" spc="-43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Utente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7181850" y="3000375"/>
            <a:ext cx="3057525" cy="1504950"/>
          </a:xfrm>
          <a:custGeom>
            <a:avLst/>
            <a:gdLst/>
            <a:ahLst/>
            <a:cxnLst/>
            <a:rect r="r" b="b" t="t" l="l"/>
            <a:pathLst>
              <a:path h="1504950" w="3057525">
                <a:moveTo>
                  <a:pt x="0" y="0"/>
                </a:moveTo>
                <a:lnTo>
                  <a:pt x="3057525" y="0"/>
                </a:lnTo>
                <a:lnTo>
                  <a:pt x="305752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7181850" y="4286250"/>
            <a:ext cx="3057525" cy="647700"/>
          </a:xfrm>
          <a:custGeom>
            <a:avLst/>
            <a:gdLst/>
            <a:ahLst/>
            <a:cxnLst/>
            <a:rect r="r" b="b" t="t" l="l"/>
            <a:pathLst>
              <a:path h="647700" w="3057525">
                <a:moveTo>
                  <a:pt x="0" y="0"/>
                </a:moveTo>
                <a:lnTo>
                  <a:pt x="3057525" y="0"/>
                </a:lnTo>
                <a:lnTo>
                  <a:pt x="30575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277850" y="5353050"/>
            <a:ext cx="3057525" cy="1295400"/>
          </a:xfrm>
          <a:custGeom>
            <a:avLst/>
            <a:gdLst/>
            <a:ahLst/>
            <a:cxnLst/>
            <a:rect r="r" b="b" t="t" l="l"/>
            <a:pathLst>
              <a:path h="1295400" w="3057525">
                <a:moveTo>
                  <a:pt x="0" y="0"/>
                </a:moveTo>
                <a:lnTo>
                  <a:pt x="3057525" y="0"/>
                </a:lnTo>
                <a:lnTo>
                  <a:pt x="305752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277850" y="5572125"/>
            <a:ext cx="3057525" cy="2571750"/>
          </a:xfrm>
          <a:custGeom>
            <a:avLst/>
            <a:gdLst/>
            <a:ahLst/>
            <a:cxnLst/>
            <a:rect r="r" b="b" t="t" l="l"/>
            <a:pathLst>
              <a:path h="2571750" w="3057525">
                <a:moveTo>
                  <a:pt x="0" y="0"/>
                </a:moveTo>
                <a:lnTo>
                  <a:pt x="3057525" y="0"/>
                </a:lnTo>
                <a:lnTo>
                  <a:pt x="3057525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6106775" y="4495800"/>
            <a:ext cx="876300" cy="1933575"/>
          </a:xfrm>
          <a:custGeom>
            <a:avLst/>
            <a:gdLst/>
            <a:ahLst/>
            <a:cxnLst/>
            <a:rect r="r" b="b" t="t" l="l"/>
            <a:pathLst>
              <a:path h="1933575" w="876300">
                <a:moveTo>
                  <a:pt x="0" y="0"/>
                </a:moveTo>
                <a:lnTo>
                  <a:pt x="876300" y="0"/>
                </a:lnTo>
                <a:lnTo>
                  <a:pt x="87630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5782544" y="6579650"/>
            <a:ext cx="1755648" cy="382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7"/>
              </a:lnSpc>
            </a:pPr>
            <a:r>
              <a:rPr lang="en-US" b="true" sz="2198" spc="-43">
                <a:solidFill>
                  <a:srgbClr val="FFFFFF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Bibliotecario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027664" y="2903973"/>
            <a:ext cx="1444752" cy="368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04"/>
              </a:lnSpc>
            </a:pPr>
            <a:r>
              <a:rPr lang="en-US" b="true" sz="2069" spc="-41">
                <a:solidFill>
                  <a:srgbClr val="003C6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Cerca libro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58368" y="618031"/>
            <a:ext cx="10405872" cy="2037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1"/>
              </a:lnSpc>
            </a:pPr>
            <a:r>
              <a:rPr lang="en-US" sz="7473" spc="-373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Esempio </a:t>
            </a:r>
            <a:r>
              <a:rPr lang="en-US" sz="7473" spc="-373" b="true">
                <a:solidFill>
                  <a:srgbClr val="78B2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— Diagramma di Sequenza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7700" y="2781300"/>
            <a:ext cx="1971675" cy="438150"/>
          </a:xfrm>
          <a:custGeom>
            <a:avLst/>
            <a:gdLst/>
            <a:ahLst/>
            <a:cxnLst/>
            <a:rect r="r" b="b" t="t" l="l"/>
            <a:pathLst>
              <a:path h="438150" w="1971675">
                <a:moveTo>
                  <a:pt x="0" y="0"/>
                </a:moveTo>
                <a:lnTo>
                  <a:pt x="1971675" y="0"/>
                </a:lnTo>
                <a:lnTo>
                  <a:pt x="1971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47700" y="3857625"/>
            <a:ext cx="1095375" cy="1076325"/>
          </a:xfrm>
          <a:custGeom>
            <a:avLst/>
            <a:gdLst/>
            <a:ahLst/>
            <a:cxnLst/>
            <a:rect r="r" b="b" t="t" l="l"/>
            <a:pathLst>
              <a:path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828800" y="3895539"/>
            <a:ext cx="2962656" cy="7928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85"/>
              </a:lnSpc>
            </a:pPr>
            <a:r>
              <a:rPr lang="en-US" sz="2190" spc="-4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Descrive lo scambio</a:t>
            </a:r>
          </a:p>
          <a:p>
            <a:pPr algn="l">
              <a:lnSpc>
                <a:spcPts val="3285"/>
              </a:lnSpc>
            </a:pPr>
            <a:r>
              <a:rPr lang="en-US" sz="2190" spc="-4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di messaggi nel tempo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5219700" y="3000375"/>
            <a:ext cx="1971675" cy="1076325"/>
          </a:xfrm>
          <a:custGeom>
            <a:avLst/>
            <a:gdLst/>
            <a:ahLst/>
            <a:cxnLst/>
            <a:rect r="r" b="b" t="t" l="l"/>
            <a:pathLst>
              <a:path h="1076325" w="1971675">
                <a:moveTo>
                  <a:pt x="0" y="0"/>
                </a:moveTo>
                <a:lnTo>
                  <a:pt x="1971675" y="0"/>
                </a:lnTo>
                <a:lnTo>
                  <a:pt x="1971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438775" y="3000375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267700" y="3000375"/>
            <a:ext cx="1971675" cy="1076325"/>
          </a:xfrm>
          <a:custGeom>
            <a:avLst/>
            <a:gdLst/>
            <a:ahLst/>
            <a:cxnLst/>
            <a:rect r="r" b="b" t="t" l="l"/>
            <a:pathLst>
              <a:path h="1076325" w="1971675">
                <a:moveTo>
                  <a:pt x="0" y="0"/>
                </a:moveTo>
                <a:lnTo>
                  <a:pt x="1971675" y="0"/>
                </a:lnTo>
                <a:lnTo>
                  <a:pt x="1971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486775" y="3000375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315700" y="3000375"/>
            <a:ext cx="2838450" cy="1076325"/>
          </a:xfrm>
          <a:custGeom>
            <a:avLst/>
            <a:gdLst/>
            <a:ahLst/>
            <a:cxnLst/>
            <a:rect r="r" b="b" t="t" l="l"/>
            <a:pathLst>
              <a:path h="1076325" w="2838450">
                <a:moveTo>
                  <a:pt x="0" y="0"/>
                </a:moveTo>
                <a:lnTo>
                  <a:pt x="2838450" y="0"/>
                </a:lnTo>
                <a:lnTo>
                  <a:pt x="28384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1534775" y="3000375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1375136" y="3135934"/>
            <a:ext cx="2542032" cy="674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b="true" sz="1928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Servizio Autenticazione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4801850" y="3000375"/>
            <a:ext cx="1962150" cy="1076325"/>
          </a:xfrm>
          <a:custGeom>
            <a:avLst/>
            <a:gdLst/>
            <a:ahLst/>
            <a:cxnLst/>
            <a:rect r="r" b="b" t="t" l="l"/>
            <a:pathLst>
              <a:path h="1076325" w="1962150">
                <a:moveTo>
                  <a:pt x="0" y="0"/>
                </a:moveTo>
                <a:lnTo>
                  <a:pt x="1962150" y="0"/>
                </a:lnTo>
                <a:lnTo>
                  <a:pt x="19621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801850" y="320992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5876925" y="3857625"/>
            <a:ext cx="438150" cy="5572125"/>
          </a:xfrm>
          <a:custGeom>
            <a:avLst/>
            <a:gdLst/>
            <a:ahLst/>
            <a:cxnLst/>
            <a:rect r="r" b="b" t="t" l="l"/>
            <a:pathLst>
              <a:path h="5572125" w="438150">
                <a:moveTo>
                  <a:pt x="0" y="0"/>
                </a:moveTo>
                <a:lnTo>
                  <a:pt x="438150" y="0"/>
                </a:lnTo>
                <a:lnTo>
                  <a:pt x="438150" y="5572125"/>
                </a:lnTo>
                <a:lnTo>
                  <a:pt x="0" y="55721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5876925" y="4714875"/>
            <a:ext cx="438150" cy="857250"/>
          </a:xfrm>
          <a:custGeom>
            <a:avLst/>
            <a:gdLst/>
            <a:ahLst/>
            <a:cxnLst/>
            <a:rect r="r" b="b" t="t" l="l"/>
            <a:pathLst>
              <a:path h="857250" w="438150">
                <a:moveTo>
                  <a:pt x="0" y="0"/>
                </a:moveTo>
                <a:lnTo>
                  <a:pt x="438150" y="0"/>
                </a:lnTo>
                <a:lnTo>
                  <a:pt x="4381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6583680" y="4592657"/>
            <a:ext cx="2139696" cy="282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584" spc="-31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1. inserisci credenziali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6096000" y="4924425"/>
            <a:ext cx="2838450" cy="219075"/>
          </a:xfrm>
          <a:custGeom>
            <a:avLst/>
            <a:gdLst/>
            <a:ahLst/>
            <a:cxnLst/>
            <a:rect r="r" b="b" t="t" l="l"/>
            <a:pathLst>
              <a:path h="219075" w="2838450">
                <a:moveTo>
                  <a:pt x="0" y="0"/>
                </a:moveTo>
                <a:lnTo>
                  <a:pt x="2838450" y="0"/>
                </a:lnTo>
                <a:lnTo>
                  <a:pt x="28384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8924925" y="4714875"/>
            <a:ext cx="438150" cy="1285875"/>
          </a:xfrm>
          <a:custGeom>
            <a:avLst/>
            <a:gdLst/>
            <a:ahLst/>
            <a:cxnLst/>
            <a:rect r="r" b="b" t="t" l="l"/>
            <a:pathLst>
              <a:path h="1285875" w="438150">
                <a:moveTo>
                  <a:pt x="0" y="0"/>
                </a:moveTo>
                <a:lnTo>
                  <a:pt x="438150" y="0"/>
                </a:lnTo>
                <a:lnTo>
                  <a:pt x="4381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9948672" y="5271599"/>
            <a:ext cx="1792224" cy="282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584" spc="-31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2. invia credenziali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9144000" y="5572125"/>
            <a:ext cx="3486150" cy="428625"/>
          </a:xfrm>
          <a:custGeom>
            <a:avLst/>
            <a:gdLst/>
            <a:ahLst/>
            <a:cxnLst/>
            <a:rect r="r" b="b" t="t" l="l"/>
            <a:pathLst>
              <a:path h="428625" w="3486150">
                <a:moveTo>
                  <a:pt x="0" y="0"/>
                </a:moveTo>
                <a:lnTo>
                  <a:pt x="3486150" y="0"/>
                </a:lnTo>
                <a:lnTo>
                  <a:pt x="3486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2401550" y="3857625"/>
            <a:ext cx="447675" cy="5572125"/>
          </a:xfrm>
          <a:custGeom>
            <a:avLst/>
            <a:gdLst/>
            <a:ahLst/>
            <a:cxnLst/>
            <a:rect r="r" b="b" t="t" l="l"/>
            <a:pathLst>
              <a:path h="5572125" w="447675">
                <a:moveTo>
                  <a:pt x="0" y="0"/>
                </a:moveTo>
                <a:lnTo>
                  <a:pt x="447675" y="0"/>
                </a:lnTo>
                <a:lnTo>
                  <a:pt x="447675" y="5572125"/>
                </a:lnTo>
                <a:lnTo>
                  <a:pt x="0" y="557212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2401550" y="5353050"/>
            <a:ext cx="447675" cy="1504950"/>
          </a:xfrm>
          <a:custGeom>
            <a:avLst/>
            <a:gdLst/>
            <a:ahLst/>
            <a:cxnLst/>
            <a:rect r="r" b="b" t="t" l="l"/>
            <a:pathLst>
              <a:path h="1504950" w="447675">
                <a:moveTo>
                  <a:pt x="0" y="0"/>
                </a:moveTo>
                <a:lnTo>
                  <a:pt x="447675" y="0"/>
                </a:lnTo>
                <a:lnTo>
                  <a:pt x="4476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2620625" y="6210300"/>
            <a:ext cx="3057525" cy="438150"/>
          </a:xfrm>
          <a:custGeom>
            <a:avLst/>
            <a:gdLst/>
            <a:ahLst/>
            <a:cxnLst/>
            <a:rect r="r" b="b" t="t" l="l"/>
            <a:pathLst>
              <a:path h="438150" w="3057525">
                <a:moveTo>
                  <a:pt x="0" y="0"/>
                </a:moveTo>
                <a:lnTo>
                  <a:pt x="3057525" y="0"/>
                </a:lnTo>
                <a:lnTo>
                  <a:pt x="30575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5449550" y="6210300"/>
            <a:ext cx="447675" cy="1504950"/>
          </a:xfrm>
          <a:custGeom>
            <a:avLst/>
            <a:gdLst/>
            <a:ahLst/>
            <a:cxnLst/>
            <a:rect r="r" b="b" t="t" l="l"/>
            <a:pathLst>
              <a:path h="1504950" w="447675">
                <a:moveTo>
                  <a:pt x="0" y="0"/>
                </a:moveTo>
                <a:lnTo>
                  <a:pt x="447675" y="0"/>
                </a:lnTo>
                <a:lnTo>
                  <a:pt x="4476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3313664" y="7061537"/>
            <a:ext cx="1719072" cy="282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584" spc="-31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4. restituisci esito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2620625" y="7286625"/>
            <a:ext cx="3057525" cy="428625"/>
          </a:xfrm>
          <a:custGeom>
            <a:avLst/>
            <a:gdLst/>
            <a:ahLst/>
            <a:cxnLst/>
            <a:rect r="r" b="b" t="t" l="l"/>
            <a:pathLst>
              <a:path h="428625" w="3057525">
                <a:moveTo>
                  <a:pt x="0" y="0"/>
                </a:moveTo>
                <a:lnTo>
                  <a:pt x="3057525" y="0"/>
                </a:lnTo>
                <a:lnTo>
                  <a:pt x="30575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2401550" y="7286625"/>
            <a:ext cx="447675" cy="1285875"/>
          </a:xfrm>
          <a:custGeom>
            <a:avLst/>
            <a:gdLst/>
            <a:ahLst/>
            <a:cxnLst/>
            <a:rect r="r" b="b" t="t" l="l"/>
            <a:pathLst>
              <a:path h="1285875" w="447675">
                <a:moveTo>
                  <a:pt x="0" y="0"/>
                </a:moveTo>
                <a:lnTo>
                  <a:pt x="447675" y="0"/>
                </a:lnTo>
                <a:lnTo>
                  <a:pt x="4476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9144000" y="8143875"/>
            <a:ext cx="3486150" cy="428625"/>
          </a:xfrm>
          <a:custGeom>
            <a:avLst/>
            <a:gdLst/>
            <a:ahLst/>
            <a:cxnLst/>
            <a:rect r="r" b="b" t="t" l="l"/>
            <a:pathLst>
              <a:path h="428625" w="3486150">
                <a:moveTo>
                  <a:pt x="0" y="0"/>
                </a:moveTo>
                <a:lnTo>
                  <a:pt x="3486150" y="0"/>
                </a:lnTo>
                <a:lnTo>
                  <a:pt x="3486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8924925" y="7924800"/>
            <a:ext cx="438150" cy="1076325"/>
          </a:xfrm>
          <a:custGeom>
            <a:avLst/>
            <a:gdLst/>
            <a:ahLst/>
            <a:cxnLst/>
            <a:rect r="r" b="b" t="t" l="l"/>
            <a:pathLst>
              <a:path h="1076325" w="438150">
                <a:moveTo>
                  <a:pt x="0" y="0"/>
                </a:moveTo>
                <a:lnTo>
                  <a:pt x="438150" y="0"/>
                </a:lnTo>
                <a:lnTo>
                  <a:pt x="4381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8924925" y="3857625"/>
            <a:ext cx="219075" cy="5572125"/>
          </a:xfrm>
          <a:custGeom>
            <a:avLst/>
            <a:gdLst/>
            <a:ahLst/>
            <a:cxnLst/>
            <a:rect r="r" b="b" t="t" l="l"/>
            <a:pathLst>
              <a:path h="5572125" w="219075">
                <a:moveTo>
                  <a:pt x="0" y="0"/>
                </a:moveTo>
                <a:lnTo>
                  <a:pt x="219075" y="0"/>
                </a:lnTo>
                <a:lnTo>
                  <a:pt x="219075" y="5572125"/>
                </a:lnTo>
                <a:lnTo>
                  <a:pt x="0" y="557212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15449550" y="3857625"/>
            <a:ext cx="447675" cy="5572125"/>
          </a:xfrm>
          <a:custGeom>
            <a:avLst/>
            <a:gdLst/>
            <a:ahLst/>
            <a:cxnLst/>
            <a:rect r="r" b="b" t="t" l="l"/>
            <a:pathLst>
              <a:path h="5572125" w="447675">
                <a:moveTo>
                  <a:pt x="0" y="0"/>
                </a:moveTo>
                <a:lnTo>
                  <a:pt x="447675" y="0"/>
                </a:lnTo>
                <a:lnTo>
                  <a:pt x="447675" y="5572125"/>
                </a:lnTo>
                <a:lnTo>
                  <a:pt x="0" y="557212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5449824" y="3307384"/>
            <a:ext cx="1627632" cy="332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b="true" sz="1928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Utente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412480" y="3307384"/>
            <a:ext cx="1627632" cy="332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b="true" sz="1928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App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4849856" y="3307384"/>
            <a:ext cx="1810512" cy="332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b="true" sz="1928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Database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386816" y="6025301"/>
            <a:ext cx="1572768" cy="265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8"/>
              </a:lnSpc>
            </a:pPr>
            <a:r>
              <a:rPr lang="en-US" sz="1518" spc="-30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3. verifica utente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509760" y="7948970"/>
            <a:ext cx="2779776" cy="2659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78"/>
              </a:lnSpc>
            </a:pPr>
            <a:r>
              <a:rPr lang="en-US" sz="1518" spc="-30" b="true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5. mostra accesso consentito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962775" y="428625"/>
            <a:ext cx="10677525" cy="9429750"/>
          </a:xfrm>
          <a:custGeom>
            <a:avLst/>
            <a:gdLst/>
            <a:ahLst/>
            <a:cxnLst/>
            <a:rect r="r" b="b" t="t" l="l"/>
            <a:pathLst>
              <a:path h="9429750" w="10677525">
                <a:moveTo>
                  <a:pt x="0" y="0"/>
                </a:moveTo>
                <a:lnTo>
                  <a:pt x="10677525" y="0"/>
                </a:lnTo>
                <a:lnTo>
                  <a:pt x="10677525" y="9429750"/>
                </a:lnTo>
                <a:lnTo>
                  <a:pt x="0" y="942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40080" y="1132378"/>
            <a:ext cx="5577840" cy="3530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518" spc="-451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Esempio </a:t>
            </a:r>
            <a:r>
              <a:rPr lang="en-US" sz="8518" spc="-451" b="true">
                <a:solidFill>
                  <a:srgbClr val="7AC1F6"/>
                </a:solidFill>
                <a:latin typeface="Roboto Bold"/>
                <a:ea typeface="Roboto Bold"/>
                <a:cs typeface="Roboto Bold"/>
                <a:sym typeface="Roboto Bold"/>
              </a:rPr>
              <a:t>– Diagramma delle Attività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647700" y="4924425"/>
            <a:ext cx="2190750" cy="438150"/>
          </a:xfrm>
          <a:custGeom>
            <a:avLst/>
            <a:gdLst/>
            <a:ahLst/>
            <a:cxnLst/>
            <a:rect r="r" b="b" t="t" l="l"/>
            <a:pathLst>
              <a:path h="438150" w="2190750">
                <a:moveTo>
                  <a:pt x="0" y="0"/>
                </a:moveTo>
                <a:lnTo>
                  <a:pt x="2190750" y="0"/>
                </a:lnTo>
                <a:lnTo>
                  <a:pt x="2190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40080" y="5811488"/>
            <a:ext cx="3968496" cy="993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2887" spc="-153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Rappresenta il flusso di controllo di un processo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1753850" y="857250"/>
            <a:ext cx="876300" cy="647700"/>
          </a:xfrm>
          <a:custGeom>
            <a:avLst/>
            <a:gdLst/>
            <a:ahLst/>
            <a:cxnLst/>
            <a:rect r="r" b="b" t="t" l="l"/>
            <a:pathLst>
              <a:path h="647700" w="876300">
                <a:moveTo>
                  <a:pt x="0" y="0"/>
                </a:moveTo>
                <a:lnTo>
                  <a:pt x="876300" y="0"/>
                </a:lnTo>
                <a:lnTo>
                  <a:pt x="876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972925" y="1285875"/>
            <a:ext cx="438150" cy="857250"/>
          </a:xfrm>
          <a:custGeom>
            <a:avLst/>
            <a:gdLst/>
            <a:ahLst/>
            <a:cxnLst/>
            <a:rect r="r" b="b" t="t" l="l"/>
            <a:pathLst>
              <a:path h="857250" w="438150">
                <a:moveTo>
                  <a:pt x="0" y="0"/>
                </a:moveTo>
                <a:lnTo>
                  <a:pt x="438150" y="0"/>
                </a:lnTo>
                <a:lnTo>
                  <a:pt x="4381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229850" y="1924050"/>
            <a:ext cx="3924300" cy="866775"/>
          </a:xfrm>
          <a:custGeom>
            <a:avLst/>
            <a:gdLst/>
            <a:ahLst/>
            <a:cxnLst/>
            <a:rect r="r" b="b" t="t" l="l"/>
            <a:pathLst>
              <a:path h="866775" w="3924300">
                <a:moveTo>
                  <a:pt x="0" y="0"/>
                </a:moveTo>
                <a:lnTo>
                  <a:pt x="3924300" y="0"/>
                </a:lnTo>
                <a:lnTo>
                  <a:pt x="3924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1155680" y="2182276"/>
            <a:ext cx="2212848" cy="33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sz="2002" spc="-106">
                <a:solidFill>
                  <a:srgbClr val="001531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Seleziona prodotto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1972925" y="2571750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229850" y="3000375"/>
            <a:ext cx="3924300" cy="857250"/>
          </a:xfrm>
          <a:custGeom>
            <a:avLst/>
            <a:gdLst/>
            <a:ahLst/>
            <a:cxnLst/>
            <a:rect r="r" b="b" t="t" l="l"/>
            <a:pathLst>
              <a:path h="857250" w="3924300">
                <a:moveTo>
                  <a:pt x="0" y="0"/>
                </a:moveTo>
                <a:lnTo>
                  <a:pt x="3924300" y="0"/>
                </a:lnTo>
                <a:lnTo>
                  <a:pt x="3924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1137392" y="3303559"/>
            <a:ext cx="2249424" cy="33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sz="2002" spc="-106">
                <a:solidFill>
                  <a:srgbClr val="001531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Aggiungi al carrello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1972925" y="3857625"/>
            <a:ext cx="438150" cy="428625"/>
          </a:xfrm>
          <a:custGeom>
            <a:avLst/>
            <a:gdLst/>
            <a:ahLst/>
            <a:cxnLst/>
            <a:rect r="r" b="b" t="t" l="l"/>
            <a:pathLst>
              <a:path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0229850" y="4067175"/>
            <a:ext cx="4143375" cy="1076325"/>
          </a:xfrm>
          <a:custGeom>
            <a:avLst/>
            <a:gdLst/>
            <a:ahLst/>
            <a:cxnLst/>
            <a:rect r="r" b="b" t="t" l="l"/>
            <a:pathLst>
              <a:path h="1076325" w="4143375">
                <a:moveTo>
                  <a:pt x="0" y="0"/>
                </a:moveTo>
                <a:lnTo>
                  <a:pt x="4143375" y="0"/>
                </a:lnTo>
                <a:lnTo>
                  <a:pt x="4143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716768" y="4445416"/>
            <a:ext cx="3145536" cy="33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sz="2002" spc="-106">
                <a:solidFill>
                  <a:srgbClr val="001531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Inserisci dati di pagamento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1972925" y="4924425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096625" y="5143500"/>
            <a:ext cx="2190750" cy="2143125"/>
          </a:xfrm>
          <a:custGeom>
            <a:avLst/>
            <a:gdLst/>
            <a:ahLst/>
            <a:cxnLst/>
            <a:rect r="r" b="b" t="t" l="l"/>
            <a:pathLst>
              <a:path h="2143125" w="2190750">
                <a:moveTo>
                  <a:pt x="0" y="0"/>
                </a:moveTo>
                <a:lnTo>
                  <a:pt x="2190750" y="0"/>
                </a:lnTo>
                <a:lnTo>
                  <a:pt x="219075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1612880" y="6096571"/>
            <a:ext cx="1280160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2"/>
              </a:lnSpc>
            </a:pPr>
            <a:r>
              <a:rPr lang="en-US" sz="1869" spc="-99">
                <a:solidFill>
                  <a:srgbClr val="001531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Pagamento valido?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351008" y="5732139"/>
            <a:ext cx="420624" cy="431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7"/>
              </a:lnSpc>
            </a:pPr>
            <a:r>
              <a:rPr lang="en-US" sz="2519" spc="-133">
                <a:solidFill>
                  <a:srgbClr val="001531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No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825728" y="5732139"/>
            <a:ext cx="292608" cy="431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7"/>
              </a:lnSpc>
            </a:pPr>
            <a:r>
              <a:rPr lang="en-US" sz="2519" spc="-133">
                <a:solidFill>
                  <a:srgbClr val="001531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Sì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9791700" y="6000750"/>
            <a:ext cx="1533525" cy="428625"/>
          </a:xfrm>
          <a:custGeom>
            <a:avLst/>
            <a:gdLst/>
            <a:ahLst/>
            <a:cxnLst/>
            <a:rect r="r" b="b" t="t" l="l"/>
            <a:pathLst>
              <a:path h="428625" w="1533525">
                <a:moveTo>
                  <a:pt x="0" y="0"/>
                </a:moveTo>
                <a:lnTo>
                  <a:pt x="1533525" y="0"/>
                </a:lnTo>
                <a:lnTo>
                  <a:pt x="15335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058775" y="6000750"/>
            <a:ext cx="1533525" cy="428625"/>
          </a:xfrm>
          <a:custGeom>
            <a:avLst/>
            <a:gdLst/>
            <a:ahLst/>
            <a:cxnLst/>
            <a:rect r="r" b="b" t="t" l="l"/>
            <a:pathLst>
              <a:path h="428625" w="1533525">
                <a:moveTo>
                  <a:pt x="0" y="0"/>
                </a:moveTo>
                <a:lnTo>
                  <a:pt x="1533525" y="0"/>
                </a:lnTo>
                <a:lnTo>
                  <a:pt x="15335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7829550" y="6429375"/>
            <a:ext cx="2838450" cy="857250"/>
          </a:xfrm>
          <a:custGeom>
            <a:avLst/>
            <a:gdLst/>
            <a:ahLst/>
            <a:cxnLst/>
            <a:rect r="r" b="b" t="t" l="l"/>
            <a:pathLst>
              <a:path h="857250" w="2838450">
                <a:moveTo>
                  <a:pt x="0" y="0"/>
                </a:moveTo>
                <a:lnTo>
                  <a:pt x="2838450" y="0"/>
                </a:lnTo>
                <a:lnTo>
                  <a:pt x="28384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8540496" y="6749704"/>
            <a:ext cx="1554480" cy="33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sz="2002" spc="-106">
                <a:solidFill>
                  <a:srgbClr val="001531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Mostra errore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3716000" y="6429375"/>
            <a:ext cx="2838450" cy="857250"/>
          </a:xfrm>
          <a:custGeom>
            <a:avLst/>
            <a:gdLst/>
            <a:ahLst/>
            <a:cxnLst/>
            <a:rect r="r" b="b" t="t" l="l"/>
            <a:pathLst>
              <a:path h="857250" w="2838450">
                <a:moveTo>
                  <a:pt x="0" y="0"/>
                </a:moveTo>
                <a:lnTo>
                  <a:pt x="2838450" y="0"/>
                </a:lnTo>
                <a:lnTo>
                  <a:pt x="28384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4154912" y="6749704"/>
            <a:ext cx="1975104" cy="339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3"/>
              </a:lnSpc>
            </a:pPr>
            <a:r>
              <a:rPr lang="en-US" sz="2002" spc="-106">
                <a:solidFill>
                  <a:srgbClr val="001531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Conferma ordine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9144000" y="7067550"/>
            <a:ext cx="6096000" cy="1076325"/>
          </a:xfrm>
          <a:custGeom>
            <a:avLst/>
            <a:gdLst/>
            <a:ahLst/>
            <a:cxnLst/>
            <a:rect r="r" b="b" t="t" l="l"/>
            <a:pathLst>
              <a:path h="1076325" w="6096000">
                <a:moveTo>
                  <a:pt x="0" y="0"/>
                </a:moveTo>
                <a:lnTo>
                  <a:pt x="6096000" y="0"/>
                </a:lnTo>
                <a:lnTo>
                  <a:pt x="60960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1972925" y="7924800"/>
            <a:ext cx="438150" cy="866775"/>
          </a:xfrm>
          <a:custGeom>
            <a:avLst/>
            <a:gdLst/>
            <a:ahLst/>
            <a:cxnLst/>
            <a:rect r="r" b="b" t="t" l="l"/>
            <a:pathLst>
              <a:path h="866775" w="438150">
                <a:moveTo>
                  <a:pt x="0" y="0"/>
                </a:moveTo>
                <a:lnTo>
                  <a:pt x="438150" y="0"/>
                </a:lnTo>
                <a:lnTo>
                  <a:pt x="4381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1753850" y="8572500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DAHU5U7tLl8</dc:identifier>
  <dcterms:modified xsi:type="dcterms:W3CDTF">2011-08-01T06:04:30Z</dcterms:modified>
  <cp:revision>1</cp:revision>
  <dc:title>Introduzione a UML</dc:title>
</cp:coreProperties>
</file>